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" name="Shape 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开场：大家好。今天的目标只有一个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让大家理解，电池什么时候充电、什么时候放电、按什么价格交易，本质上是一个数学优化问题，而且是一个我们可以用现成工具（</a:t>
            </a:r>
            <a:r>
              <a:t>docplex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）直接求解的问题。不需要任何优化背景，我们会从零开始。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" name="Shape 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路线图：先搞清楚</a:t>
            </a:r>
            <a:r>
              <a:t>“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优化问题</a:t>
            </a:r>
            <a:r>
              <a:t>”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这三个字到底指什么；然后用一个跟电池毫无关系的小例子理解 </a:t>
            </a:r>
            <a:r>
              <a:t>LP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和 </a:t>
            </a:r>
            <a:r>
              <a:t>MIP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；第三步做一个关键的思维跳跃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电池套利其实就是同一个问题换了件衣服；最后落地到代码，用 </a:t>
            </a:r>
            <a:r>
              <a:t>docplex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一行一行把数学翻译成 </a:t>
            </a:r>
            <a:r>
              <a:t>Python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6" name="Shape 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  <a:r>
              <a:rPr>
                <a:latin typeface="+mn-lt"/>
                <a:ea typeface="+mn-ea"/>
                <a:cs typeface="+mn-cs"/>
                <a:sym typeface="Helvetica"/>
              </a:rPr>
              <a:t>三要素：决策变量是我们手里的旋钮；目标函数是记分牌；约束是游戏规则。整个建模过程，就是把业务语言翻译成这三样东西。翻译完之后，找答案的脏活累活交给求解器。这一页是全场最重要的心智模型，后面所有内容都是在填这三个空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7" name="Shape 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的核心：目标和约束全部是线性的，变量是连续的。它的回报是：解得快、解得稳、解是全局最优。右边是标准形式，不用记，只需记住一点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式子里全是一次项。等会儿写电池模型时可以检查一下：我们写的每条式子都是这种形状。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2" name="Shape 1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先讲跟电池无关的例子，降低认知负担。左边是老板嘴里的业务语言，右边是同一句话的数学写法：两个变量、一个利润目标、两条资源约束。请注意这个</a:t>
            </a:r>
            <a:r>
              <a:t>“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翻译</a:t>
            </a:r>
            <a:r>
              <a:t>”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动作本身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业务规则到数学式子的逐条对应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这正是我们之后对电池要做的事。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1" name="Shape 1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两个变量时可以画出来。阴影是可行域；黄色虚线是等利润线，同一条线上利润相同；把它平行往外推，最后卡在可行域的一个角点上</a:t>
            </a:r>
            <a:r>
              <a:t>——(7.5, 5)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，利润 </a:t>
            </a:r>
            <a:r>
              <a:t>3250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。记住一个结论：</a:t>
            </a:r>
            <a:r>
              <a:t>LP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最优解总在角点，单纯形法就是聪明地在角点之间跳。但注意：</a:t>
            </a:r>
            <a:r>
              <a:t>7.5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张桌子？这里埋下一个问题。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1" name="Shape 1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MIP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只改一件事：一部分变量必须取整数或 </a:t>
            </a:r>
            <a:r>
              <a:t>0/1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。别小看这一步</a:t>
            </a:r>
            <a:r>
              <a:t>——0/1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变量让我们能在线性框架里表达逻辑：开或关、做或不做、二选一。电池</a:t>
            </a:r>
            <a:r>
              <a:t>“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不能同时充放电</a:t>
            </a:r>
            <a:r>
              <a:t>”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就得靠它。代价是求解从多项式时间变成 </a:t>
            </a:r>
            <a:r>
              <a:t>NP-hard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，规模大了会慢，所以能不用 </a:t>
            </a:r>
            <a:r>
              <a:t>binary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就不用。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2" name="Shape 1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常见误区：先当 </a:t>
            </a:r>
            <a:r>
              <a:t>LP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解，再取整。图上看：灰点是 </a:t>
            </a:r>
            <a:r>
              <a:t>LP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最优 </a:t>
            </a:r>
            <a:r>
              <a:t>(7.5,5)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；就近取整到 </a:t>
            </a:r>
            <a:r>
              <a:t>(7,5)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只有 </a:t>
            </a:r>
            <a:r>
              <a:t>3100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；而真正的整数最优在 </a:t>
            </a:r>
            <a:r>
              <a:t>(8,4)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</a:t>
            </a:r>
            <a:r>
              <a:t>3200——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它根本不在 </a:t>
            </a:r>
            <a:r>
              <a:t>LP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最优旁边。更糟的情况是取整后直接不可行。所以整数约束必须写进模型，让 </a:t>
            </a:r>
            <a:r>
              <a:t>branch &amp; bound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去处理。这一页讲完，</a:t>
            </a:r>
            <a:r>
              <a:t>LP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和 </a:t>
            </a:r>
            <a:r>
              <a:t>MIP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的直觉就齐了。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4" name="Shape 1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现在做那个关键的思维跳跃。电池储能赚钱的方式很朴素：低买高卖。听起来像交易问题，但换个角度：每小时充多少、放多少是决策变量；总收益是目标函数；电池的物理规格是约束。和家具厂完全同构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只是变量从 </a:t>
            </a:r>
            <a:r>
              <a:t>2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个变成了 </a:t>
            </a:r>
            <a:r>
              <a:t>24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小时 </a:t>
            </a:r>
            <a:r>
              <a:t>×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每小时几个。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18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2" name="Shape 18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逐列对照：变量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家具厂是 </a:t>
            </a:r>
            <a:r>
              <a:t>2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个数，电池是每小时 </a:t>
            </a:r>
            <a:r>
              <a:t>3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个数（充、放、电量），</a:t>
            </a:r>
            <a:r>
              <a:t>24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小时共 </a:t>
            </a:r>
            <a:r>
              <a:t>72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个；目标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都是线性的收益式，电价 </a:t>
            </a:r>
            <a:r>
              <a:t>p_t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乘以净卖出量；约束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资源限制变成了电池的物理规格。唯一质变是时间维度：小时之间靠电量守恒方程串起来，其他没有任何新概念。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5" name="Shape 20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现在开始逐条翻译，格式固定：左边业务语言，右边数学。功率上限就是变量的上下界；容量限制是 </a:t>
            </a:r>
            <a:r>
              <a:t>SoC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的上下界；最重要的是能量守恒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它把相邻小时连起来，是模型的</a:t>
            </a:r>
            <a:r>
              <a:t>“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骨架方程</a:t>
            </a:r>
            <a:r>
              <a:t>”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，效率 </a:t>
            </a:r>
            <a:r>
              <a:t>η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让每次往返损耗约 </a:t>
            </a:r>
            <a:r>
              <a:t>19%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，所以模型不会无脑来回倒电；最后加一条首尾相等，保证策略是可持续的一天，不是把电池掏空冲业绩。注意：每一条都是线性的。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2" name="Shape 2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到这里为止全是 </a:t>
            </a:r>
            <a:r>
              <a:t>LP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。但</a:t>
            </a:r>
            <a:r>
              <a:t>“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不能同时充放电</a:t>
            </a:r>
            <a:r>
              <a:t>”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是逻辑约束：乘积等于零是非线性的，写不进去。经典技巧：加一个 </a:t>
            </a:r>
            <a:r>
              <a:t>0/1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开关 </a:t>
            </a:r>
            <a:r>
              <a:t>y_t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，用两条线性不等式把它接到功率上限上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开关拨到充电侧，放电上限就变成 </a:t>
            </a:r>
            <a:r>
              <a:t>0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，反之亦然。一个 </a:t>
            </a:r>
            <a:r>
              <a:t>binary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变量</a:t>
            </a:r>
            <a:r>
              <a:t>+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两条线性式</a:t>
            </a:r>
            <a:r>
              <a:t>=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一条逻辑。这一刻，模型正式从 </a:t>
            </a:r>
            <a:r>
              <a:t>LP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升级为 </a:t>
            </a:r>
            <a:r>
              <a:t>MIP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，也回应了前半场为什么要讲 </a:t>
            </a:r>
            <a:r>
              <a:t>MIP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Shape 2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1" name="Shape 2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落地到代码。</a:t>
            </a:r>
            <a:r>
              <a:t>docplex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是 </a:t>
            </a:r>
            <a:r>
              <a:t>IBM CPLEX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的 </a:t>
            </a:r>
            <a:r>
              <a:t>Python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建模接口，写法几乎就是数学的直译。第一步建 </a:t>
            </a:r>
            <a:r>
              <a:t>Model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；第二步声明变量：</a:t>
            </a:r>
            <a:r>
              <a:t>continuous_var_list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一次生成 </a:t>
            </a:r>
            <a:r>
              <a:t>24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个连续变量，</a:t>
            </a:r>
            <a:r>
              <a:t>lb/ub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参数顺手把功率上限、容量上下限两类约束写完了；</a:t>
            </a:r>
            <a:r>
              <a:t>binary_var_list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生成 </a:t>
            </a:r>
            <a:r>
              <a:t>24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个开关变量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黄色这一行，就是模型变成 </a:t>
            </a:r>
            <a:r>
              <a:t>MIP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的那一行。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0" name="Shape 2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第二段代码：循环里三件事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两条开关约束、一条能量守恒（黄色高亮，就是幻灯片 </a:t>
            </a:r>
            <a:r>
              <a:t>11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的那条方程，几乎逐字照抄）；循环外补首尾相等；</a:t>
            </a:r>
            <a:r>
              <a:t>maximize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里就是 </a:t>
            </a:r>
            <a:r>
              <a:t>Σ p_t(d_t−c_t)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；然后 </a:t>
            </a:r>
            <a:r>
              <a:t>m.solve()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。请大家对照上一页数学：没有一行代码是</a:t>
            </a:r>
            <a:r>
              <a:t>“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新知识</a:t>
            </a:r>
            <a:r>
              <a:t>”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，全部是机械翻译。这套例子的最优收益是 </a:t>
            </a:r>
            <a:r>
              <a:t>753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英镑，下一页看它到底做了什么。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Shape 2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1" name="Shape 2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rPr>
                <a:latin typeface="+mn-lt"/>
                <a:ea typeface="+mn-ea"/>
                <a:cs typeface="+mn-cs"/>
                <a:sym typeface="Helvetica"/>
              </a:rPr>
              <a:t>收尾三句话：一，建模就是填三个空，先别想算法；二，</a:t>
            </a:r>
            <a:r>
              <a:t>LP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表达数量关系，</a:t>
            </a:r>
            <a:r>
              <a:t>binary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表达逻辑，电池模型的分水岭就在</a:t>
            </a:r>
            <a:r>
              <a:t>“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不能同时充放电</a:t>
            </a:r>
            <a:r>
              <a:t>”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；三，</a:t>
            </a:r>
            <a:r>
              <a:t>docplex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代码是数学的直译，真正的难点在于把业务规则一条不漏地写对。右边是自然的扩展方向：老化成本、多市场共同优化、价格不确定性、更细的结算颗粒度</a:t>
            </a:r>
            <a:r>
              <a:t>——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骨架不变，都是往里加变量和约束。欢迎提问。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3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6400800" y="155448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12333D"/>
          </a:solidFill>
          <a:ln w="31750">
            <a:solidFill>
              <a:srgbClr val="4FA3B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8339328" y="1883664"/>
            <a:ext cx="128017" cy="347473"/>
          </a:xfrm>
          <a:prstGeom prst="roundRect">
            <a:avLst>
              <a:gd name="adj" fmla="val 21429"/>
            </a:avLst>
          </a:prstGeom>
          <a:solidFill>
            <a:srgbClr val="4FA3B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6510528" y="1664207"/>
            <a:ext cx="530353" cy="786385"/>
          </a:xfrm>
          <a:prstGeom prst="roundRect">
            <a:avLst>
              <a:gd name="adj" fmla="val 6897"/>
            </a:avLst>
          </a:prstGeom>
          <a:solidFill>
            <a:srgbClr val="2BA84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3"/>
          <p:cNvSpPr/>
          <p:nvPr/>
        </p:nvSpPr>
        <p:spPr>
          <a:xfrm>
            <a:off x="7095743" y="1664207"/>
            <a:ext cx="530353" cy="786385"/>
          </a:xfrm>
          <a:prstGeom prst="roundRect">
            <a:avLst>
              <a:gd name="adj" fmla="val 6897"/>
            </a:avLst>
          </a:prstGeom>
          <a:solidFill>
            <a:srgbClr val="2BA84A">
              <a:alpha val="64999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Shape 4"/>
          <p:cNvSpPr/>
          <p:nvPr/>
        </p:nvSpPr>
        <p:spPr>
          <a:xfrm>
            <a:off x="7680959" y="1664207"/>
            <a:ext cx="530353" cy="786385"/>
          </a:xfrm>
          <a:prstGeom prst="roundRect">
            <a:avLst>
              <a:gd name="adj" fmla="val 6897"/>
            </a:avLst>
          </a:prstGeom>
          <a:solidFill>
            <a:srgbClr val="24505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150607" y="2788920"/>
            <a:ext cx="411481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Text 5"/>
          <p:cNvSpPr txBox="1"/>
          <p:nvPr/>
        </p:nvSpPr>
        <p:spPr>
          <a:xfrm>
            <a:off x="640080" y="1311079"/>
            <a:ext cx="5669280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F4A300"/>
                </a:solidFill>
              </a:defRPr>
            </a:lvl1pPr>
          </a:lstStyle>
          <a:p>
            <a:pPr/>
            <a:r>
              <a:t>Factory OPTIMIZATION 101</a:t>
            </a:r>
          </a:p>
        </p:txBody>
      </p:sp>
      <p:sp>
        <p:nvSpPr>
          <p:cNvPr id="27" name="Text 6"/>
          <p:cNvSpPr txBox="1"/>
          <p:nvPr/>
        </p:nvSpPr>
        <p:spPr>
          <a:xfrm>
            <a:off x="640079" y="1670684"/>
            <a:ext cx="5852162" cy="1413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把工厂优化变成一个</a:t>
            </a:r>
          </a:p>
          <a:p>
            <a:pPr>
              <a:lnSpc>
                <a:spcPct val="110000"/>
              </a:lnSpc>
              <a:defRPr b="1" sz="3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可以求解的优化问题</a:t>
            </a:r>
          </a:p>
        </p:txBody>
      </p:sp>
      <p:sp>
        <p:nvSpPr>
          <p:cNvPr id="28" name="Text 7"/>
          <p:cNvSpPr txBox="1"/>
          <p:nvPr/>
        </p:nvSpPr>
        <p:spPr>
          <a:xfrm>
            <a:off x="640080" y="3218616"/>
            <a:ext cx="5486401" cy="603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BFD8DD"/>
                </a:solidFill>
              </a:defRPr>
            </a:lvl1pPr>
          </a:lstStyle>
          <a:p>
            <a:pPr/>
            <a:r>
              <a:t>从 LP 与 MIP 的直觉出发，到用 docplex 写出第一个工厂调度模型</a:t>
            </a:r>
          </a:p>
        </p:txBody>
      </p:sp>
      <p:sp>
        <p:nvSpPr>
          <p:cNvPr id="29" name="Shape 8"/>
          <p:cNvSpPr/>
          <p:nvPr/>
        </p:nvSpPr>
        <p:spPr>
          <a:xfrm>
            <a:off x="640079" y="4160520"/>
            <a:ext cx="7863842" cy="1"/>
          </a:xfrm>
          <a:prstGeom prst="line">
            <a:avLst/>
          </a:prstGeom>
          <a:ln w="12700">
            <a:solidFill>
              <a:srgbClr val="2C5560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 txBox="1"/>
          <p:nvPr/>
        </p:nvSpPr>
        <p:spPr>
          <a:xfrm>
            <a:off x="502920" y="314759"/>
            <a:ext cx="8138160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34" name="Text 1"/>
          <p:cNvSpPr txBox="1"/>
          <p:nvPr/>
        </p:nvSpPr>
        <p:spPr>
          <a:xfrm>
            <a:off x="502920" y="565403"/>
            <a:ext cx="813816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今天的路线：四步走</a:t>
            </a:r>
          </a:p>
        </p:txBody>
      </p:sp>
      <p:sp>
        <p:nvSpPr>
          <p:cNvPr id="35" name="Shape 2"/>
          <p:cNvSpPr/>
          <p:nvPr/>
        </p:nvSpPr>
        <p:spPr>
          <a:xfrm>
            <a:off x="502919" y="1508760"/>
            <a:ext cx="1993394" cy="3017521"/>
          </a:xfrm>
          <a:prstGeom prst="roundRect">
            <a:avLst>
              <a:gd name="adj" fmla="val 3670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6" name="Text 3"/>
          <p:cNvSpPr txBox="1"/>
          <p:nvPr/>
        </p:nvSpPr>
        <p:spPr>
          <a:xfrm>
            <a:off x="667512" y="1690369"/>
            <a:ext cx="73152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0E6E7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7" name="Shape 4"/>
          <p:cNvSpPr/>
          <p:nvPr/>
        </p:nvSpPr>
        <p:spPr>
          <a:xfrm>
            <a:off x="1810511" y="1737360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8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41271" y="1868118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Text 5"/>
          <p:cNvSpPr txBox="1"/>
          <p:nvPr/>
        </p:nvSpPr>
        <p:spPr>
          <a:xfrm>
            <a:off x="667512" y="2717799"/>
            <a:ext cx="166420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2333D"/>
                </a:solidFill>
              </a:defRPr>
            </a:lvl1pPr>
          </a:lstStyle>
          <a:p>
            <a:pPr/>
            <a:r>
              <a:t>什么是优化问题？</a:t>
            </a:r>
          </a:p>
        </p:txBody>
      </p:sp>
      <p:sp>
        <p:nvSpPr>
          <p:cNvPr id="40" name="Text 6"/>
          <p:cNvSpPr txBox="1"/>
          <p:nvPr/>
        </p:nvSpPr>
        <p:spPr>
          <a:xfrm>
            <a:off x="667512" y="3624580"/>
            <a:ext cx="1664207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A6B70"/>
                </a:solidFill>
              </a:defRPr>
            </a:lvl1pPr>
          </a:lstStyle>
          <a:p>
            <a:pPr/>
            <a:r>
              <a:t>决策变量、目标函数、约束——三要素</a:t>
            </a:r>
          </a:p>
        </p:txBody>
      </p:sp>
      <p:sp>
        <p:nvSpPr>
          <p:cNvPr id="41" name="Shape 7"/>
          <p:cNvSpPr/>
          <p:nvPr/>
        </p:nvSpPr>
        <p:spPr>
          <a:xfrm>
            <a:off x="2697479" y="1508760"/>
            <a:ext cx="1993394" cy="3017521"/>
          </a:xfrm>
          <a:prstGeom prst="roundRect">
            <a:avLst>
              <a:gd name="adj" fmla="val 3670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" name="Text 8"/>
          <p:cNvSpPr txBox="1"/>
          <p:nvPr/>
        </p:nvSpPr>
        <p:spPr>
          <a:xfrm>
            <a:off x="2862071" y="1690369"/>
            <a:ext cx="731522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0E6E7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3" name="Shape 9"/>
          <p:cNvSpPr/>
          <p:nvPr/>
        </p:nvSpPr>
        <p:spPr>
          <a:xfrm>
            <a:off x="4005071" y="1737360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4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135830" y="1868118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Text 10"/>
          <p:cNvSpPr txBox="1"/>
          <p:nvPr/>
        </p:nvSpPr>
        <p:spPr>
          <a:xfrm>
            <a:off x="2862072" y="2717799"/>
            <a:ext cx="166420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2333D"/>
                </a:solidFill>
              </a:defRPr>
            </a:lvl1pPr>
          </a:lstStyle>
          <a:p>
            <a:pPr/>
            <a:r>
              <a:t>LP 与 MIP</a:t>
            </a:r>
          </a:p>
        </p:txBody>
      </p:sp>
      <p:sp>
        <p:nvSpPr>
          <p:cNvPr id="46" name="Text 11"/>
          <p:cNvSpPr txBox="1"/>
          <p:nvPr/>
        </p:nvSpPr>
        <p:spPr>
          <a:xfrm>
            <a:off x="2862072" y="3624580"/>
            <a:ext cx="1664207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A6B70"/>
                </a:solidFill>
              </a:defRPr>
            </a:lvl1pPr>
          </a:lstStyle>
          <a:p>
            <a:pPr/>
            <a:r>
              <a:t>用一个家具厂的小例子建立直觉</a:t>
            </a:r>
          </a:p>
        </p:txBody>
      </p:sp>
      <p:sp>
        <p:nvSpPr>
          <p:cNvPr id="47" name="Shape 12"/>
          <p:cNvSpPr/>
          <p:nvPr/>
        </p:nvSpPr>
        <p:spPr>
          <a:xfrm>
            <a:off x="4892040" y="1508760"/>
            <a:ext cx="1993393" cy="3017521"/>
          </a:xfrm>
          <a:prstGeom prst="roundRect">
            <a:avLst>
              <a:gd name="adj" fmla="val 3670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8" name="Text 13"/>
          <p:cNvSpPr txBox="1"/>
          <p:nvPr/>
        </p:nvSpPr>
        <p:spPr>
          <a:xfrm>
            <a:off x="5056632" y="1690369"/>
            <a:ext cx="73152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0E6E7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9" name="Shape 14"/>
          <p:cNvSpPr/>
          <p:nvPr/>
        </p:nvSpPr>
        <p:spPr>
          <a:xfrm>
            <a:off x="6199632" y="1737360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0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330391" y="1868118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Text 15"/>
          <p:cNvSpPr txBox="1"/>
          <p:nvPr/>
        </p:nvSpPr>
        <p:spPr>
          <a:xfrm>
            <a:off x="5056632" y="2717799"/>
            <a:ext cx="166420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2333D"/>
                </a:solidFill>
              </a:defRPr>
            </a:lvl1pPr>
          </a:lstStyle>
          <a:p>
            <a:pPr/>
            <a:r>
              <a:t>电池 = 同一个问题</a:t>
            </a:r>
          </a:p>
        </p:txBody>
      </p:sp>
      <p:sp>
        <p:nvSpPr>
          <p:cNvPr id="52" name="Text 16"/>
          <p:cNvSpPr txBox="1"/>
          <p:nvPr/>
        </p:nvSpPr>
        <p:spPr>
          <a:xfrm>
            <a:off x="5056632" y="3624580"/>
            <a:ext cx="166420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A6B70"/>
                </a:solidFill>
              </a:defRPr>
            </a:lvl1pPr>
          </a:lstStyle>
          <a:p>
            <a:pPr/>
            <a:r>
              <a:t>把充放电决策映射到同样的三要素</a:t>
            </a:r>
          </a:p>
        </p:txBody>
      </p:sp>
      <p:sp>
        <p:nvSpPr>
          <p:cNvPr id="53" name="Shape 17"/>
          <p:cNvSpPr/>
          <p:nvPr/>
        </p:nvSpPr>
        <p:spPr>
          <a:xfrm>
            <a:off x="7086600" y="1508760"/>
            <a:ext cx="1993393" cy="3017521"/>
          </a:xfrm>
          <a:prstGeom prst="roundRect">
            <a:avLst>
              <a:gd name="adj" fmla="val 3670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4" name="Text 18"/>
          <p:cNvSpPr txBox="1"/>
          <p:nvPr/>
        </p:nvSpPr>
        <p:spPr>
          <a:xfrm>
            <a:off x="7251192" y="1690369"/>
            <a:ext cx="731521" cy="59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000">
                <a:solidFill>
                  <a:srgbClr val="0E6E7E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55" name="Shape 19"/>
          <p:cNvSpPr/>
          <p:nvPr/>
        </p:nvSpPr>
        <p:spPr>
          <a:xfrm>
            <a:off x="8394192" y="1737360"/>
            <a:ext cx="502921" cy="502921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56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524950" y="1868118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Text 20"/>
          <p:cNvSpPr txBox="1"/>
          <p:nvPr/>
        </p:nvSpPr>
        <p:spPr>
          <a:xfrm>
            <a:off x="7251192" y="2717799"/>
            <a:ext cx="1664208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2333D"/>
                </a:solidFill>
              </a:defRPr>
            </a:lvl1pPr>
          </a:lstStyle>
          <a:p>
            <a:pPr/>
            <a:r>
              <a:t>用 docplex 实现</a:t>
            </a:r>
          </a:p>
        </p:txBody>
      </p:sp>
      <p:sp>
        <p:nvSpPr>
          <p:cNvPr id="58" name="Text 21"/>
          <p:cNvSpPr txBox="1"/>
          <p:nvPr/>
        </p:nvSpPr>
        <p:spPr>
          <a:xfrm>
            <a:off x="7251192" y="3624580"/>
            <a:ext cx="1664208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A6B70"/>
                </a:solidFill>
              </a:defRPr>
            </a:lvl1pPr>
          </a:lstStyle>
          <a:p>
            <a:pPr/>
            <a:r>
              <a:t>把每条约束逐行翻译成代码并求解</a:t>
            </a:r>
          </a:p>
        </p:txBody>
      </p:sp>
      <p:sp>
        <p:nvSpPr>
          <p:cNvPr id="59" name="Text 22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 txBox="1"/>
          <p:nvPr/>
        </p:nvSpPr>
        <p:spPr>
          <a:xfrm>
            <a:off x="502920" y="285241"/>
            <a:ext cx="81381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1 · 基础</a:t>
            </a:r>
          </a:p>
        </p:txBody>
      </p:sp>
      <p:sp>
        <p:nvSpPr>
          <p:cNvPr id="64" name="Text 1"/>
          <p:cNvSpPr txBox="1"/>
          <p:nvPr/>
        </p:nvSpPr>
        <p:spPr>
          <a:xfrm>
            <a:off x="502920" y="565403"/>
            <a:ext cx="813816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任何优化问题都只有三个零件</a:t>
            </a:r>
          </a:p>
        </p:txBody>
      </p:sp>
      <p:sp>
        <p:nvSpPr>
          <p:cNvPr id="65" name="Shape 2"/>
          <p:cNvSpPr/>
          <p:nvPr/>
        </p:nvSpPr>
        <p:spPr>
          <a:xfrm>
            <a:off x="502919" y="1463039"/>
            <a:ext cx="2651762" cy="2651761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" name="Shape 3"/>
          <p:cNvSpPr/>
          <p:nvPr/>
        </p:nvSpPr>
        <p:spPr>
          <a:xfrm>
            <a:off x="731519" y="1691639"/>
            <a:ext cx="566929" cy="566929"/>
          </a:xfrm>
          <a:prstGeom prst="ellipse">
            <a:avLst/>
          </a:prstGeom>
          <a:solidFill>
            <a:srgbClr val="0E6E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7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78920" y="1839041"/>
            <a:ext cx="272126" cy="272126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Text 4"/>
          <p:cNvSpPr txBox="1"/>
          <p:nvPr/>
        </p:nvSpPr>
        <p:spPr>
          <a:xfrm>
            <a:off x="1417319" y="1734057"/>
            <a:ext cx="155448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2333D"/>
                </a:solidFill>
              </a:defRPr>
            </a:lvl1pPr>
          </a:lstStyle>
          <a:p>
            <a:pPr/>
            <a:r>
              <a:t>决策变量</a:t>
            </a:r>
          </a:p>
        </p:txBody>
      </p:sp>
      <p:sp>
        <p:nvSpPr>
          <p:cNvPr id="69" name="Text 5"/>
          <p:cNvSpPr txBox="1"/>
          <p:nvPr/>
        </p:nvSpPr>
        <p:spPr>
          <a:xfrm>
            <a:off x="1417319" y="2127426"/>
            <a:ext cx="15544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A6B70"/>
                </a:solidFill>
              </a:defRPr>
            </a:lvl1pPr>
          </a:lstStyle>
          <a:p>
            <a:pPr/>
            <a:r>
              <a:t>Decision variables</a:t>
            </a:r>
          </a:p>
        </p:txBody>
      </p:sp>
      <p:sp>
        <p:nvSpPr>
          <p:cNvPr id="70" name="Text 6"/>
          <p:cNvSpPr txBox="1"/>
          <p:nvPr/>
        </p:nvSpPr>
        <p:spPr>
          <a:xfrm>
            <a:off x="731519" y="2868929"/>
            <a:ext cx="2194561" cy="754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300">
                <a:solidFill>
                  <a:srgbClr val="1E2A2E"/>
                </a:solidFill>
              </a:defRPr>
            </a:pPr>
            <a:r>
              <a:t>我们能控制的数字。</a:t>
            </a:r>
          </a:p>
          <a:p>
            <a:pPr>
              <a:lnSpc>
                <a:spcPct val="115000"/>
              </a:lnSpc>
              <a:defRPr sz="1300">
                <a:solidFill>
                  <a:srgbClr val="1E2A2E"/>
                </a:solidFill>
              </a:defRPr>
            </a:pPr>
            <a:r>
              <a:t>例：生产多少张桌子；每小时充多少电。</a:t>
            </a:r>
          </a:p>
        </p:txBody>
      </p:sp>
      <p:sp>
        <p:nvSpPr>
          <p:cNvPr id="71" name="Shape 7"/>
          <p:cNvSpPr/>
          <p:nvPr/>
        </p:nvSpPr>
        <p:spPr>
          <a:xfrm>
            <a:off x="3383279" y="1463039"/>
            <a:ext cx="2651761" cy="2651761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2" name="Shape 8"/>
          <p:cNvSpPr/>
          <p:nvPr/>
        </p:nvSpPr>
        <p:spPr>
          <a:xfrm>
            <a:off x="3611879" y="1691639"/>
            <a:ext cx="566929" cy="566929"/>
          </a:xfrm>
          <a:prstGeom prst="ellipse">
            <a:avLst/>
          </a:prstGeom>
          <a:solidFill>
            <a:srgbClr val="F4A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3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759281" y="1839041"/>
            <a:ext cx="272126" cy="272126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Text 9"/>
          <p:cNvSpPr txBox="1"/>
          <p:nvPr/>
        </p:nvSpPr>
        <p:spPr>
          <a:xfrm>
            <a:off x="4297679" y="1734057"/>
            <a:ext cx="155448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2333D"/>
                </a:solidFill>
              </a:defRPr>
            </a:lvl1pPr>
          </a:lstStyle>
          <a:p>
            <a:pPr/>
            <a:r>
              <a:t>目标函数</a:t>
            </a:r>
          </a:p>
        </p:txBody>
      </p:sp>
      <p:sp>
        <p:nvSpPr>
          <p:cNvPr id="75" name="Text 10"/>
          <p:cNvSpPr txBox="1"/>
          <p:nvPr/>
        </p:nvSpPr>
        <p:spPr>
          <a:xfrm>
            <a:off x="4297679" y="2127426"/>
            <a:ext cx="15544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A6B70"/>
                </a:solidFill>
              </a:defRPr>
            </a:lvl1pPr>
          </a:lstStyle>
          <a:p>
            <a:pPr/>
            <a:r>
              <a:t>Objective</a:t>
            </a:r>
          </a:p>
        </p:txBody>
      </p:sp>
      <p:sp>
        <p:nvSpPr>
          <p:cNvPr id="76" name="Text 11"/>
          <p:cNvSpPr txBox="1"/>
          <p:nvPr/>
        </p:nvSpPr>
        <p:spPr>
          <a:xfrm>
            <a:off x="3611879" y="2850710"/>
            <a:ext cx="2194561" cy="7908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300">
                <a:solidFill>
                  <a:srgbClr val="1E2A2E"/>
                </a:solidFill>
              </a:defRPr>
            </a:pPr>
            <a:r>
              <a:t>衡量“好不好”的一个数字，最大化或最小化。</a:t>
            </a:r>
          </a:p>
          <a:p>
            <a:pPr>
              <a:lnSpc>
                <a:spcPct val="115000"/>
              </a:lnSpc>
              <a:defRPr sz="1300">
                <a:solidFill>
                  <a:srgbClr val="1E2A2E"/>
                </a:solidFill>
              </a:defRPr>
            </a:pPr>
            <a:r>
              <a:t>例：利润最大、成本最小。</a:t>
            </a:r>
          </a:p>
        </p:txBody>
      </p:sp>
      <p:sp>
        <p:nvSpPr>
          <p:cNvPr id="77" name="Shape 12"/>
          <p:cNvSpPr/>
          <p:nvPr/>
        </p:nvSpPr>
        <p:spPr>
          <a:xfrm>
            <a:off x="6263640" y="1463039"/>
            <a:ext cx="2651761" cy="2651761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E5E8"/>
            </a:solidFill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" name="Shape 13"/>
          <p:cNvSpPr/>
          <p:nvPr/>
        </p:nvSpPr>
        <p:spPr>
          <a:xfrm>
            <a:off x="6492240" y="1691639"/>
            <a:ext cx="566929" cy="566929"/>
          </a:xfrm>
          <a:prstGeom prst="ellipse">
            <a:avLst/>
          </a:prstGeom>
          <a:solidFill>
            <a:srgbClr val="1C729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79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639641" y="1839041"/>
            <a:ext cx="272126" cy="272126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ext 14"/>
          <p:cNvSpPr txBox="1"/>
          <p:nvPr/>
        </p:nvSpPr>
        <p:spPr>
          <a:xfrm>
            <a:off x="7178040" y="1734057"/>
            <a:ext cx="155448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12333D"/>
                </a:solidFill>
              </a:defRPr>
            </a:lvl1pPr>
          </a:lstStyle>
          <a:p>
            <a:pPr/>
            <a:r>
              <a:t>约束条件</a:t>
            </a:r>
          </a:p>
        </p:txBody>
      </p:sp>
      <p:sp>
        <p:nvSpPr>
          <p:cNvPr id="81" name="Text 15"/>
          <p:cNvSpPr txBox="1"/>
          <p:nvPr/>
        </p:nvSpPr>
        <p:spPr>
          <a:xfrm>
            <a:off x="7178040" y="2127426"/>
            <a:ext cx="155448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A6B70"/>
                </a:solidFill>
              </a:defRPr>
            </a:lvl1pPr>
          </a:lstStyle>
          <a:p>
            <a:pPr/>
            <a:r>
              <a:t>Constraints</a:t>
            </a:r>
          </a:p>
        </p:txBody>
      </p:sp>
      <p:sp>
        <p:nvSpPr>
          <p:cNvPr id="82" name="Text 16"/>
          <p:cNvSpPr txBox="1"/>
          <p:nvPr/>
        </p:nvSpPr>
        <p:spPr>
          <a:xfrm>
            <a:off x="6492240" y="2737485"/>
            <a:ext cx="2194561" cy="1017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300">
                <a:solidFill>
                  <a:srgbClr val="1E2A2E"/>
                </a:solidFill>
              </a:defRPr>
            </a:pPr>
            <a:r>
              <a:t>现实世界的规则，决策必须满足。</a:t>
            </a:r>
          </a:p>
          <a:p>
            <a:pPr>
              <a:lnSpc>
                <a:spcPct val="115000"/>
              </a:lnSpc>
              <a:defRPr sz="1300">
                <a:solidFill>
                  <a:srgbClr val="1E2A2E"/>
                </a:solidFill>
              </a:defRPr>
            </a:pPr>
            <a:r>
              <a:t>例：木材有限；电池容量有限。</a:t>
            </a:r>
          </a:p>
        </p:txBody>
      </p:sp>
      <p:sp>
        <p:nvSpPr>
          <p:cNvPr id="83" name="Text 17"/>
          <p:cNvSpPr txBox="1"/>
          <p:nvPr/>
        </p:nvSpPr>
        <p:spPr>
          <a:xfrm>
            <a:off x="502920" y="4307137"/>
            <a:ext cx="8138160" cy="575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0E6E7E"/>
                </a:solidFill>
              </a:defRPr>
            </a:pPr>
            <a:r>
              <a:t>一句话：</a:t>
            </a:r>
            <a:r>
              <a:rPr b="0">
                <a:solidFill>
                  <a:srgbClr val="1E2A2E"/>
                </a:solidFill>
              </a:rPr>
              <a:t>在所有满足约束的选择里，找到让目标最好的那一个。求解器（solver）负责“找”，我们负责把问题“说清楚”。</a:t>
            </a:r>
          </a:p>
        </p:txBody>
      </p:sp>
      <p:sp>
        <p:nvSpPr>
          <p:cNvPr id="84" name="Text 18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 txBox="1"/>
          <p:nvPr/>
        </p:nvSpPr>
        <p:spPr>
          <a:xfrm>
            <a:off x="502920" y="285241"/>
            <a:ext cx="81381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1 · 基础</a:t>
            </a:r>
          </a:p>
        </p:txBody>
      </p:sp>
      <p:sp>
        <p:nvSpPr>
          <p:cNvPr id="89" name="Text 1"/>
          <p:cNvSpPr txBox="1"/>
          <p:nvPr/>
        </p:nvSpPr>
        <p:spPr>
          <a:xfrm>
            <a:off x="502920" y="565403"/>
            <a:ext cx="813816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LP：线性规划（Linear Programming）</a:t>
            </a:r>
          </a:p>
        </p:txBody>
      </p:sp>
      <p:sp>
        <p:nvSpPr>
          <p:cNvPr id="90" name="Text 2"/>
          <p:cNvSpPr txBox="1"/>
          <p:nvPr/>
        </p:nvSpPr>
        <p:spPr>
          <a:xfrm>
            <a:off x="502919" y="1104369"/>
            <a:ext cx="4206242" cy="4009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600"/>
              </a:spcBef>
              <a:defRPr b="1" sz="1700">
                <a:solidFill>
                  <a:srgbClr val="12333D"/>
                </a:solidFill>
              </a:defRPr>
            </a:pPr>
            <a:r>
              <a:t>“线性”意味着什么？</a:t>
            </a:r>
            <a:endParaRPr sz="1400"/>
          </a:p>
          <a:p>
            <a:pPr>
              <a:spcBef>
                <a:spcPts val="600"/>
              </a:spcBef>
              <a:defRPr sz="1400"/>
            </a:pP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400">
                <a:solidFill>
                  <a:srgbClr val="1E2A2E"/>
                </a:solidFill>
              </a:defRPr>
            </a:pPr>
            <a:r>
              <a:t>目标函数是变量的线性组合（加加减减、乘常数）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400">
                <a:solidFill>
                  <a:srgbClr val="1E2A2E"/>
                </a:solidFill>
              </a:defRPr>
            </a:pPr>
            <a:r>
              <a:t>所有约束都是线性等式 / 不等式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400">
                <a:solidFill>
                  <a:srgbClr val="1E2A2E"/>
                </a:solidFill>
              </a:defRPr>
            </a:pPr>
            <a:r>
              <a:t>变量可以取任意实数（连续），如 7.5、3.14</a:t>
            </a:r>
          </a:p>
          <a:p>
            <a:pPr>
              <a:spcBef>
                <a:spcPts val="600"/>
              </a:spcBef>
              <a:defRPr sz="1400"/>
            </a:pPr>
          </a:p>
          <a:p>
            <a:pPr>
              <a:spcBef>
                <a:spcPts val="600"/>
              </a:spcBef>
              <a:defRPr b="1" sz="1700">
                <a:solidFill>
                  <a:srgbClr val="12333D"/>
                </a:solidFill>
              </a:defRPr>
            </a:pPr>
            <a:r>
              <a:t>为什么大家喜欢 LP？</a:t>
            </a:r>
            <a:endParaRPr sz="1400"/>
          </a:p>
          <a:p>
            <a:pPr>
              <a:spcBef>
                <a:spcPts val="600"/>
              </a:spcBef>
              <a:defRPr sz="1400"/>
            </a:pP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400">
                <a:solidFill>
                  <a:srgbClr val="1E2A2E"/>
                </a:solidFill>
              </a:defRPr>
            </a:pPr>
            <a:r>
              <a:t>求解极快，百万级变量也能解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400">
                <a:solidFill>
                  <a:srgbClr val="1E2A2E"/>
                </a:solidFill>
              </a:defRPr>
            </a:pPr>
            <a:r>
              <a:t>解是全局最优，不会陷入局部最优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400">
                <a:solidFill>
                  <a:srgbClr val="1E2A2E"/>
                </a:solidFill>
              </a:defRPr>
            </a:pPr>
            <a:r>
              <a:t>成熟求解器开箱即用：CPLEX、Gurobi、CBC…</a:t>
            </a:r>
          </a:p>
        </p:txBody>
      </p:sp>
      <p:sp>
        <p:nvSpPr>
          <p:cNvPr id="91" name="Shape 3"/>
          <p:cNvSpPr/>
          <p:nvPr/>
        </p:nvSpPr>
        <p:spPr>
          <a:xfrm>
            <a:off x="5029200" y="1463039"/>
            <a:ext cx="3611880" cy="3063241"/>
          </a:xfrm>
          <a:prstGeom prst="roundRect">
            <a:avLst>
              <a:gd name="adj" fmla="val 2388"/>
            </a:avLst>
          </a:prstGeom>
          <a:solidFill>
            <a:srgbClr val="12333D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" name="Text 4"/>
          <p:cNvSpPr txBox="1"/>
          <p:nvPr/>
        </p:nvSpPr>
        <p:spPr>
          <a:xfrm>
            <a:off x="5303520" y="1709927"/>
            <a:ext cx="306324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F4A300"/>
                </a:solidFill>
              </a:defRPr>
            </a:lvl1pPr>
          </a:lstStyle>
          <a:p>
            <a:pPr/>
            <a:r>
              <a:t>标准形式</a:t>
            </a:r>
          </a:p>
        </p:txBody>
      </p:sp>
      <p:sp>
        <p:nvSpPr>
          <p:cNvPr id="93" name="Text 5"/>
          <p:cNvSpPr txBox="1"/>
          <p:nvPr/>
        </p:nvSpPr>
        <p:spPr>
          <a:xfrm>
            <a:off x="5303520" y="2097235"/>
            <a:ext cx="3108961" cy="17491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2000"/>
              </a:lnSpc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maximize    c₁x₁ + c₂x₂ + … + cₙxₙ</a:t>
            </a:r>
          </a:p>
          <a:p>
            <a:pPr>
              <a:lnSpc>
                <a:spcPct val="112000"/>
              </a:lnSpc>
              <a:defRPr sz="1300"/>
            </a:pPr>
          </a:p>
          <a:p>
            <a:pPr>
              <a:lnSpc>
                <a:spcPct val="112000"/>
              </a:lnSpc>
              <a:defRPr sz="1300">
                <a:solidFill>
                  <a:srgbClr val="8FB8C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subject to</a:t>
            </a:r>
          </a:p>
          <a:p>
            <a:pPr>
              <a:lnSpc>
                <a:spcPct val="112000"/>
              </a:lnSpc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a₁₁x₁ + … + a₁ₙxₙ  ≤  b₁</a:t>
            </a:r>
          </a:p>
          <a:p>
            <a:pPr>
              <a:lnSpc>
                <a:spcPct val="112000"/>
              </a:lnSpc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a₂₁x₁ + … + a₂ₙxₙ  ≤  b₂</a:t>
            </a:r>
          </a:p>
          <a:p>
            <a:pPr>
              <a:lnSpc>
                <a:spcPct val="112000"/>
              </a:lnSpc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…</a:t>
            </a:r>
          </a:p>
          <a:p>
            <a:pPr>
              <a:lnSpc>
                <a:spcPct val="112000"/>
              </a:lnSpc>
              <a:defRPr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xᵢ ≥ 0</a:t>
            </a:r>
          </a:p>
        </p:txBody>
      </p:sp>
      <p:sp>
        <p:nvSpPr>
          <p:cNvPr id="94" name="Text 6"/>
          <p:cNvSpPr txBox="1"/>
          <p:nvPr/>
        </p:nvSpPr>
        <p:spPr>
          <a:xfrm>
            <a:off x="5303520" y="4052570"/>
            <a:ext cx="30632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BFD8DD"/>
                </a:solidFill>
              </a:defRPr>
            </a:lvl1pPr>
          </a:lstStyle>
          <a:p>
            <a:pPr/>
            <a:r>
              <a:t>全是一次项，没有 x²、x·y、log(x)</a:t>
            </a:r>
          </a:p>
        </p:txBody>
      </p:sp>
      <p:sp>
        <p:nvSpPr>
          <p:cNvPr id="95" name="Text 7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 txBox="1"/>
          <p:nvPr/>
        </p:nvSpPr>
        <p:spPr>
          <a:xfrm>
            <a:off x="502920" y="285241"/>
            <a:ext cx="81381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1 · 例子</a:t>
            </a:r>
          </a:p>
        </p:txBody>
      </p:sp>
      <p:sp>
        <p:nvSpPr>
          <p:cNvPr id="100" name="Text 1"/>
          <p:cNvSpPr txBox="1"/>
          <p:nvPr/>
        </p:nvSpPr>
        <p:spPr>
          <a:xfrm>
            <a:off x="502920" y="565403"/>
            <a:ext cx="813816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一个小例子：家具厂该生产什么？</a:t>
            </a:r>
          </a:p>
        </p:txBody>
      </p:sp>
      <p:sp>
        <p:nvSpPr>
          <p:cNvPr id="101" name="Shape 2"/>
          <p:cNvSpPr/>
          <p:nvPr/>
        </p:nvSpPr>
        <p:spPr>
          <a:xfrm>
            <a:off x="502919" y="1417319"/>
            <a:ext cx="3886201" cy="3154681"/>
          </a:xfrm>
          <a:prstGeom prst="roundRect">
            <a:avLst>
              <a:gd name="adj" fmla="val 2319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2" name="Shape 3"/>
          <p:cNvSpPr/>
          <p:nvPr/>
        </p:nvSpPr>
        <p:spPr>
          <a:xfrm>
            <a:off x="731519" y="1618488"/>
            <a:ext cx="502921" cy="502921"/>
          </a:xfrm>
          <a:prstGeom prst="ellipse">
            <a:avLst/>
          </a:prstGeom>
          <a:solidFill>
            <a:srgbClr val="0E6E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03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2278" y="1749246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 4"/>
          <p:cNvSpPr txBox="1"/>
          <p:nvPr/>
        </p:nvSpPr>
        <p:spPr>
          <a:xfrm>
            <a:off x="1371599" y="1734819"/>
            <a:ext cx="256032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2333D"/>
                </a:solidFill>
              </a:defRPr>
            </a:lvl1pPr>
          </a:lstStyle>
          <a:p>
            <a:pPr/>
            <a:r>
              <a:t>业务描述</a:t>
            </a:r>
          </a:p>
        </p:txBody>
      </p:sp>
      <p:sp>
        <p:nvSpPr>
          <p:cNvPr id="105" name="Text 5"/>
          <p:cNvSpPr txBox="1"/>
          <p:nvPr/>
        </p:nvSpPr>
        <p:spPr>
          <a:xfrm>
            <a:off x="731519" y="2673302"/>
            <a:ext cx="3474722" cy="1328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1E2A2E"/>
                </a:solidFill>
              </a:defRPr>
            </a:pPr>
            <a:r>
              <a:t>桌子：利润 £300/张，耗木材 4、工时 2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1E2A2E"/>
                </a:solidFill>
              </a:defRPr>
            </a:pPr>
            <a:r>
              <a:t>椅子：利润 £200/把，耗木材 2、工时 3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1300">
                <a:solidFill>
                  <a:srgbClr val="1E2A2E"/>
                </a:solidFill>
              </a:defRPr>
            </a:pPr>
            <a:r>
              <a:t>木材总量 ≤ 40，工时总量 ≤ 30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b="1" sz="1300">
                <a:solidFill>
                  <a:srgbClr val="0E6E7E"/>
                </a:solidFill>
              </a:defRPr>
            </a:pPr>
            <a:r>
              <a:t>问：各生产多少，利润最大？</a:t>
            </a:r>
          </a:p>
        </p:txBody>
      </p:sp>
      <p:pic>
        <p:nvPicPr>
          <p:cNvPr id="106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498847" y="2788920"/>
            <a:ext cx="411481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Shape 6"/>
          <p:cNvSpPr/>
          <p:nvPr/>
        </p:nvSpPr>
        <p:spPr>
          <a:xfrm>
            <a:off x="5029200" y="1417319"/>
            <a:ext cx="3611880" cy="3154681"/>
          </a:xfrm>
          <a:prstGeom prst="roundRect">
            <a:avLst>
              <a:gd name="adj" fmla="val 2319"/>
            </a:avLst>
          </a:prstGeom>
          <a:solidFill>
            <a:srgbClr val="12333D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8" name="Text 7"/>
          <p:cNvSpPr txBox="1"/>
          <p:nvPr/>
        </p:nvSpPr>
        <p:spPr>
          <a:xfrm>
            <a:off x="5303520" y="1645920"/>
            <a:ext cx="301752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200" sz="1300">
                <a:solidFill>
                  <a:srgbClr val="F4A300"/>
                </a:solidFill>
              </a:defRPr>
            </a:lvl1pPr>
          </a:lstStyle>
          <a:p>
            <a:pPr/>
            <a:r>
              <a:t>翻译成三要素</a:t>
            </a:r>
          </a:p>
        </p:txBody>
      </p:sp>
      <p:sp>
        <p:nvSpPr>
          <p:cNvPr id="109" name="Text 8"/>
          <p:cNvSpPr txBox="1"/>
          <p:nvPr/>
        </p:nvSpPr>
        <p:spPr>
          <a:xfrm>
            <a:off x="5303520" y="2241086"/>
            <a:ext cx="3108961" cy="1827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变量:  x = 桌子数, y = 椅子数</a:t>
            </a:r>
          </a:p>
          <a:p>
            <a:pPr>
              <a:lnSpc>
                <a:spcPct val="115000"/>
              </a:lnSpc>
              <a:defRPr sz="1400"/>
            </a:pPr>
          </a:p>
          <a:p>
            <a:pPr>
              <a:lnSpc>
                <a:spcPct val="115000"/>
              </a:lnSpc>
              <a:defRPr b="1" sz="1400">
                <a:solidFill>
                  <a:srgbClr val="FFD9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max   300x + 200y</a:t>
            </a:r>
          </a:p>
          <a:p>
            <a:pPr>
              <a:lnSpc>
                <a:spcPct val="115000"/>
              </a:lnSpc>
              <a:defRPr sz="1400"/>
            </a:pPr>
          </a:p>
          <a:p>
            <a:pPr>
              <a:lnSpc>
                <a:spcPct val="115000"/>
              </a:lnSpc>
              <a:defRPr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s.t.  4x + 2y ≤ 40   (木材)</a:t>
            </a:r>
          </a:p>
          <a:p>
            <a:pPr>
              <a:lnSpc>
                <a:spcPct val="115000"/>
              </a:lnSpc>
              <a:defRPr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2x + 3y ≤ 30   (工时)</a:t>
            </a:r>
          </a:p>
          <a:p>
            <a:pPr>
              <a:lnSpc>
                <a:spcPct val="115000"/>
              </a:lnSpc>
              <a:defRPr sz="1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x, y ≥ 0</a:t>
            </a:r>
          </a:p>
        </p:txBody>
      </p:sp>
      <p:sp>
        <p:nvSpPr>
          <p:cNvPr id="110" name="Text 9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 0"/>
          <p:cNvSpPr txBox="1"/>
          <p:nvPr/>
        </p:nvSpPr>
        <p:spPr>
          <a:xfrm>
            <a:off x="502920" y="285241"/>
            <a:ext cx="81381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1 · 例子</a:t>
            </a:r>
          </a:p>
        </p:txBody>
      </p:sp>
      <p:sp>
        <p:nvSpPr>
          <p:cNvPr id="115" name="Text 1"/>
          <p:cNvSpPr txBox="1"/>
          <p:nvPr/>
        </p:nvSpPr>
        <p:spPr>
          <a:xfrm>
            <a:off x="502920" y="565403"/>
            <a:ext cx="813816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几何直觉：可行域 + 最优解在“角上”</a:t>
            </a:r>
          </a:p>
        </p:txBody>
      </p:sp>
      <p:pic>
        <p:nvPicPr>
          <p:cNvPr id="116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1480" y="1371600"/>
            <a:ext cx="4617721" cy="3465577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Shape 2"/>
          <p:cNvSpPr/>
          <p:nvPr/>
        </p:nvSpPr>
        <p:spPr>
          <a:xfrm>
            <a:off x="5303520" y="1554480"/>
            <a:ext cx="457201" cy="457201"/>
          </a:xfrm>
          <a:prstGeom prst="ellipse">
            <a:avLst/>
          </a:prstGeom>
          <a:solidFill>
            <a:srgbClr val="0E6E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18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422391" y="1673351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Text 3"/>
          <p:cNvSpPr txBox="1"/>
          <p:nvPr/>
        </p:nvSpPr>
        <p:spPr>
          <a:xfrm>
            <a:off x="5943599" y="1549145"/>
            <a:ext cx="310896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333D"/>
                </a:solidFill>
              </a:defRPr>
            </a:lvl1pPr>
          </a:lstStyle>
          <a:p>
            <a:pPr/>
            <a:r>
              <a:t>阴影区 = 可行域</a:t>
            </a:r>
          </a:p>
        </p:txBody>
      </p:sp>
      <p:sp>
        <p:nvSpPr>
          <p:cNvPr id="120" name="Text 4"/>
          <p:cNvSpPr txBox="1"/>
          <p:nvPr/>
        </p:nvSpPr>
        <p:spPr>
          <a:xfrm>
            <a:off x="5943600" y="1938982"/>
            <a:ext cx="3063240" cy="465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A6B70"/>
                </a:solidFill>
              </a:defRPr>
            </a:lvl1pPr>
          </a:lstStyle>
          <a:p>
            <a:pPr/>
            <a:r>
              <a:t>所有满足约束的 (x, y) 组合，约束越多，区域越小。</a:t>
            </a:r>
          </a:p>
        </p:txBody>
      </p:sp>
      <p:sp>
        <p:nvSpPr>
          <p:cNvPr id="121" name="Shape 5"/>
          <p:cNvSpPr/>
          <p:nvPr/>
        </p:nvSpPr>
        <p:spPr>
          <a:xfrm>
            <a:off x="5303520" y="2606039"/>
            <a:ext cx="457201" cy="457201"/>
          </a:xfrm>
          <a:prstGeom prst="ellipse">
            <a:avLst/>
          </a:prstGeom>
          <a:solidFill>
            <a:srgbClr val="0E6E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2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422391" y="2724911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3" name="Text 6"/>
          <p:cNvSpPr txBox="1"/>
          <p:nvPr/>
        </p:nvSpPr>
        <p:spPr>
          <a:xfrm>
            <a:off x="5943599" y="2600705"/>
            <a:ext cx="310896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333D"/>
                </a:solidFill>
              </a:defRPr>
            </a:lvl1pPr>
          </a:lstStyle>
          <a:p>
            <a:pPr/>
            <a:r>
              <a:t>虚线 = 等利润线</a:t>
            </a:r>
          </a:p>
        </p:txBody>
      </p:sp>
      <p:sp>
        <p:nvSpPr>
          <p:cNvPr id="124" name="Text 7"/>
          <p:cNvSpPr txBox="1"/>
          <p:nvPr/>
        </p:nvSpPr>
        <p:spPr>
          <a:xfrm>
            <a:off x="5943600" y="3115310"/>
            <a:ext cx="306324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A6B70"/>
                </a:solidFill>
              </a:defRPr>
            </a:lvl1pPr>
          </a:lstStyle>
          <a:p>
            <a:pPr/>
            <a:r>
              <a:t>往右上方推，利润越高；推到不能再推为止。</a:t>
            </a:r>
          </a:p>
        </p:txBody>
      </p:sp>
      <p:sp>
        <p:nvSpPr>
          <p:cNvPr id="125" name="Shape 8"/>
          <p:cNvSpPr/>
          <p:nvPr/>
        </p:nvSpPr>
        <p:spPr>
          <a:xfrm>
            <a:off x="5303520" y="3657600"/>
            <a:ext cx="457201" cy="457200"/>
          </a:xfrm>
          <a:prstGeom prst="ellipse">
            <a:avLst/>
          </a:prstGeom>
          <a:solidFill>
            <a:srgbClr val="0E6E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6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422391" y="3776471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127" name="Text 9"/>
          <p:cNvSpPr txBox="1"/>
          <p:nvPr/>
        </p:nvSpPr>
        <p:spPr>
          <a:xfrm>
            <a:off x="5943599" y="3652265"/>
            <a:ext cx="3108962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333D"/>
                </a:solidFill>
              </a:defRPr>
            </a:lvl1pPr>
          </a:lstStyle>
          <a:p>
            <a:pPr/>
            <a:r>
              <a:t>最优解在顶点</a:t>
            </a:r>
          </a:p>
        </p:txBody>
      </p:sp>
      <p:sp>
        <p:nvSpPr>
          <p:cNvPr id="128" name="Text 10"/>
          <p:cNvSpPr txBox="1"/>
          <p:nvPr/>
        </p:nvSpPr>
        <p:spPr>
          <a:xfrm>
            <a:off x="5943600" y="4042102"/>
            <a:ext cx="3063240" cy="465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A6B70"/>
                </a:solidFill>
              </a:defRPr>
            </a:lvl1pPr>
          </a:lstStyle>
          <a:p>
            <a:pPr/>
            <a:r>
              <a:t>LP 的最优解总在可行域的角点上——这就是求解器高效的原因。</a:t>
            </a:r>
          </a:p>
        </p:txBody>
      </p:sp>
      <p:sp>
        <p:nvSpPr>
          <p:cNvPr id="129" name="Text 11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 0"/>
          <p:cNvSpPr txBox="1"/>
          <p:nvPr/>
        </p:nvSpPr>
        <p:spPr>
          <a:xfrm>
            <a:off x="502920" y="285241"/>
            <a:ext cx="81381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1 · 基础</a:t>
            </a:r>
          </a:p>
        </p:txBody>
      </p:sp>
      <p:sp>
        <p:nvSpPr>
          <p:cNvPr id="134" name="Text 1"/>
          <p:cNvSpPr txBox="1"/>
          <p:nvPr/>
        </p:nvSpPr>
        <p:spPr>
          <a:xfrm>
            <a:off x="502920" y="565403"/>
            <a:ext cx="813816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MIP：当变量不能“取一半”的时候</a:t>
            </a:r>
          </a:p>
        </p:txBody>
      </p:sp>
      <p:sp>
        <p:nvSpPr>
          <p:cNvPr id="135" name="Text 2"/>
          <p:cNvSpPr txBox="1"/>
          <p:nvPr/>
        </p:nvSpPr>
        <p:spPr>
          <a:xfrm>
            <a:off x="502920" y="1399976"/>
            <a:ext cx="8138160" cy="629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spcBef>
                <a:spcPts val="400"/>
              </a:spcBef>
              <a:defRPr b="1" sz="1600">
                <a:solidFill>
                  <a:srgbClr val="12333D"/>
                </a:solidFill>
              </a:defRPr>
            </a:pPr>
            <a:r>
              <a:t>MIP = Mixed-Integer Programming（混合整数规划）</a:t>
            </a:r>
          </a:p>
          <a:p>
            <a:pPr>
              <a:spcBef>
                <a:spcPts val="400"/>
              </a:spcBef>
              <a:defRPr sz="1400">
                <a:solidFill>
                  <a:srgbClr val="5A6B70"/>
                </a:solidFill>
              </a:defRPr>
            </a:pPr>
            <a:r>
              <a:t>还是线性的目标和约束，但部分变量被限制为整数或 0/1。</a:t>
            </a:r>
          </a:p>
        </p:txBody>
      </p:sp>
      <p:sp>
        <p:nvSpPr>
          <p:cNvPr id="136" name="Shape 3"/>
          <p:cNvSpPr/>
          <p:nvPr/>
        </p:nvSpPr>
        <p:spPr>
          <a:xfrm>
            <a:off x="502919" y="2240279"/>
            <a:ext cx="2651762" cy="1965961"/>
          </a:xfrm>
          <a:prstGeom prst="roundRect">
            <a:avLst>
              <a:gd name="adj" fmla="val 3721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7" name="Text 4"/>
          <p:cNvSpPr txBox="1"/>
          <p:nvPr/>
        </p:nvSpPr>
        <p:spPr>
          <a:xfrm>
            <a:off x="731519" y="2425192"/>
            <a:ext cx="219456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2333D"/>
                </a:solidFill>
              </a:defRPr>
            </a:lvl1pPr>
          </a:lstStyle>
          <a:p>
            <a:pPr/>
            <a:r>
              <a:t>整数变量</a:t>
            </a:r>
          </a:p>
        </p:txBody>
      </p:sp>
      <p:sp>
        <p:nvSpPr>
          <p:cNvPr id="138" name="Text 5"/>
          <p:cNvSpPr txBox="1"/>
          <p:nvPr/>
        </p:nvSpPr>
        <p:spPr>
          <a:xfrm>
            <a:off x="731519" y="2811793"/>
            <a:ext cx="2194561" cy="201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E6E7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x ∈ {0, 1, 2, …}</a:t>
            </a:r>
          </a:p>
        </p:txBody>
      </p:sp>
      <p:sp>
        <p:nvSpPr>
          <p:cNvPr id="139" name="Text 6"/>
          <p:cNvSpPr txBox="1"/>
          <p:nvPr/>
        </p:nvSpPr>
        <p:spPr>
          <a:xfrm>
            <a:off x="731519" y="3405885"/>
            <a:ext cx="2194561" cy="457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2000"/>
              </a:lnSpc>
              <a:defRPr sz="1200">
                <a:solidFill>
                  <a:srgbClr val="1E2A2E"/>
                </a:solidFill>
              </a:defRPr>
            </a:pPr>
            <a:r>
              <a:t>数量必须是整数：</a:t>
            </a:r>
          </a:p>
          <a:p>
            <a:pPr>
              <a:lnSpc>
                <a:spcPct val="112000"/>
              </a:lnSpc>
              <a:defRPr sz="1200">
                <a:solidFill>
                  <a:srgbClr val="1E2A2E"/>
                </a:solidFill>
              </a:defRPr>
            </a:pPr>
            <a:r>
              <a:t>7.5 张桌子造不出来。</a:t>
            </a:r>
          </a:p>
        </p:txBody>
      </p:sp>
      <p:sp>
        <p:nvSpPr>
          <p:cNvPr id="140" name="Shape 7"/>
          <p:cNvSpPr/>
          <p:nvPr/>
        </p:nvSpPr>
        <p:spPr>
          <a:xfrm>
            <a:off x="3383279" y="2240279"/>
            <a:ext cx="2651761" cy="1965961"/>
          </a:xfrm>
          <a:prstGeom prst="roundRect">
            <a:avLst>
              <a:gd name="adj" fmla="val 3721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" name="Text 8"/>
          <p:cNvSpPr txBox="1"/>
          <p:nvPr/>
        </p:nvSpPr>
        <p:spPr>
          <a:xfrm>
            <a:off x="3611879" y="2425192"/>
            <a:ext cx="219456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2333D"/>
                </a:solidFill>
              </a:defRPr>
            </a:lvl1pPr>
          </a:lstStyle>
          <a:p>
            <a:pPr/>
            <a:r>
              <a:t>0/1 变量</a:t>
            </a:r>
          </a:p>
        </p:txBody>
      </p:sp>
      <p:sp>
        <p:nvSpPr>
          <p:cNvPr id="142" name="Text 9"/>
          <p:cNvSpPr txBox="1"/>
          <p:nvPr/>
        </p:nvSpPr>
        <p:spPr>
          <a:xfrm>
            <a:off x="3611879" y="2811793"/>
            <a:ext cx="2194561" cy="201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4A30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y ∈ {0, 1}</a:t>
            </a:r>
          </a:p>
        </p:txBody>
      </p:sp>
      <p:sp>
        <p:nvSpPr>
          <p:cNvPr id="143" name="Text 10"/>
          <p:cNvSpPr txBox="1"/>
          <p:nvPr/>
        </p:nvSpPr>
        <p:spPr>
          <a:xfrm>
            <a:off x="3611879" y="3389068"/>
            <a:ext cx="2194561" cy="491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2000"/>
              </a:lnSpc>
              <a:defRPr sz="1200">
                <a:solidFill>
                  <a:srgbClr val="1E2A2E"/>
                </a:solidFill>
              </a:defRPr>
            </a:pPr>
            <a:r>
              <a:t>是/否的开关决策：</a:t>
            </a:r>
          </a:p>
          <a:p>
            <a:pPr>
              <a:lnSpc>
                <a:spcPct val="112000"/>
              </a:lnSpc>
              <a:defRPr sz="1200">
                <a:solidFill>
                  <a:srgbClr val="1E2A2E"/>
                </a:solidFill>
              </a:defRPr>
            </a:pPr>
            <a:r>
              <a:t>开不开机？充电还是放电？</a:t>
            </a:r>
          </a:p>
        </p:txBody>
      </p:sp>
      <p:sp>
        <p:nvSpPr>
          <p:cNvPr id="144" name="Shape 11"/>
          <p:cNvSpPr/>
          <p:nvPr/>
        </p:nvSpPr>
        <p:spPr>
          <a:xfrm>
            <a:off x="6263640" y="2240279"/>
            <a:ext cx="2651761" cy="1965961"/>
          </a:xfrm>
          <a:prstGeom prst="roundRect">
            <a:avLst>
              <a:gd name="adj" fmla="val 3721"/>
            </a:avLst>
          </a:prstGeom>
          <a:solidFill>
            <a:srgbClr val="FBF1F1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5" name="Text 12"/>
          <p:cNvSpPr txBox="1"/>
          <p:nvPr/>
        </p:nvSpPr>
        <p:spPr>
          <a:xfrm>
            <a:off x="6492240" y="2425192"/>
            <a:ext cx="219456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2333D"/>
                </a:solidFill>
              </a:defRPr>
            </a:lvl1pPr>
          </a:lstStyle>
          <a:p>
            <a:pPr/>
            <a:r>
              <a:t>代价</a:t>
            </a:r>
          </a:p>
        </p:txBody>
      </p:sp>
      <p:sp>
        <p:nvSpPr>
          <p:cNvPr id="146" name="Text 13"/>
          <p:cNvSpPr txBox="1"/>
          <p:nvPr/>
        </p:nvSpPr>
        <p:spPr>
          <a:xfrm>
            <a:off x="6492240" y="2798064"/>
            <a:ext cx="21945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C94F4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求解更难</a:t>
            </a:r>
          </a:p>
        </p:txBody>
      </p:sp>
      <p:sp>
        <p:nvSpPr>
          <p:cNvPr id="147" name="Text 14"/>
          <p:cNvSpPr txBox="1"/>
          <p:nvPr/>
        </p:nvSpPr>
        <p:spPr>
          <a:xfrm>
            <a:off x="6492240" y="3389068"/>
            <a:ext cx="2194561" cy="4913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12000"/>
              </a:lnSpc>
              <a:defRPr sz="1200">
                <a:solidFill>
                  <a:srgbClr val="1E2A2E"/>
                </a:solidFill>
              </a:defRPr>
            </a:lvl1pPr>
          </a:lstStyle>
          <a:p>
            <a:pPr/>
            <a:r>
              <a:t>组合爆炸，靠 branch &amp; bound 剪枝；规模大时明显变慢。</a:t>
            </a:r>
          </a:p>
        </p:txBody>
      </p:sp>
      <p:sp>
        <p:nvSpPr>
          <p:cNvPr id="148" name="Text 15"/>
          <p:cNvSpPr txBox="1"/>
          <p:nvPr/>
        </p:nvSpPr>
        <p:spPr>
          <a:xfrm>
            <a:off x="502920" y="4329998"/>
            <a:ext cx="8138160" cy="575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0E6E7E"/>
                </a:solidFill>
              </a:defRPr>
            </a:pPr>
            <a:r>
              <a:t>关键作用：</a:t>
            </a:r>
            <a:r>
              <a:rPr b="0">
                <a:solidFill>
                  <a:srgbClr val="1E2A2E"/>
                </a:solidFill>
              </a:rPr>
              <a:t>0/1 变量能表达“逻辑”——非此即彼、如果…就…、固定启动成本。这是纯 LP 做不到的。</a:t>
            </a:r>
          </a:p>
        </p:txBody>
      </p:sp>
      <p:sp>
        <p:nvSpPr>
          <p:cNvPr id="149" name="Text 16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 txBox="1"/>
          <p:nvPr/>
        </p:nvSpPr>
        <p:spPr>
          <a:xfrm>
            <a:off x="502920" y="285241"/>
            <a:ext cx="81381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1 · 例子</a:t>
            </a:r>
          </a:p>
        </p:txBody>
      </p:sp>
      <p:sp>
        <p:nvSpPr>
          <p:cNvPr id="154" name="Text 1"/>
          <p:cNvSpPr txBox="1"/>
          <p:nvPr/>
        </p:nvSpPr>
        <p:spPr>
          <a:xfrm>
            <a:off x="502920" y="565403"/>
            <a:ext cx="813816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为什么不能“先解 LP 再四舍五入”？</a:t>
            </a:r>
          </a:p>
        </p:txBody>
      </p:sp>
      <p:pic>
        <p:nvPicPr>
          <p:cNvPr id="15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1480" y="1371600"/>
            <a:ext cx="4617721" cy="3465577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Shape 2"/>
          <p:cNvSpPr/>
          <p:nvPr/>
        </p:nvSpPr>
        <p:spPr>
          <a:xfrm>
            <a:off x="5303520" y="1554480"/>
            <a:ext cx="3337560" cy="2286001"/>
          </a:xfrm>
          <a:prstGeom prst="roundRect">
            <a:avLst>
              <a:gd name="adj" fmla="val 3200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57" name="Text 3"/>
          <p:cNvSpPr txBox="1"/>
          <p:nvPr/>
        </p:nvSpPr>
        <p:spPr>
          <a:xfrm>
            <a:off x="5577840" y="1894839"/>
            <a:ext cx="2834641" cy="96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5A6B7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LP 最优:  (7.5, 5)  → £3250</a:t>
            </a:r>
          </a:p>
          <a:p>
            <a:pPr>
              <a:lnSpc>
                <a:spcPct val="140000"/>
              </a:lnSpc>
              <a:defRPr sz="1400">
                <a:solidFill>
                  <a:srgbClr val="C94F4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四舍五入: (7, 5)   → £3100</a:t>
            </a:r>
          </a:p>
          <a:p>
            <a:pPr>
              <a:lnSpc>
                <a:spcPct val="140000"/>
              </a:lnSpc>
              <a:defRPr b="1" sz="1400">
                <a:solidFill>
                  <a:srgbClr val="1B7A36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MIP 最优:  (8, 4)   → £3200</a:t>
            </a:r>
          </a:p>
        </p:txBody>
      </p:sp>
      <p:sp>
        <p:nvSpPr>
          <p:cNvPr id="158" name="Text 4"/>
          <p:cNvSpPr txBox="1"/>
          <p:nvPr/>
        </p:nvSpPr>
        <p:spPr>
          <a:xfrm>
            <a:off x="5577840" y="3104842"/>
            <a:ext cx="2834641" cy="465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1E2A2E"/>
                </a:solidFill>
              </a:defRPr>
            </a:lvl1pPr>
          </a:lstStyle>
          <a:p>
            <a:pPr/>
            <a:r>
              <a:t>整数最优解不一定在 LP 最优解“旁边”，甚至可能取整后不可行。</a:t>
            </a:r>
          </a:p>
        </p:txBody>
      </p:sp>
      <p:sp>
        <p:nvSpPr>
          <p:cNvPr id="159" name="Text 5"/>
          <p:cNvSpPr txBox="1"/>
          <p:nvPr/>
        </p:nvSpPr>
        <p:spPr>
          <a:xfrm>
            <a:off x="5303520" y="4161219"/>
            <a:ext cx="3383281" cy="5472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0E6E7E"/>
                </a:solidFill>
              </a:defRPr>
            </a:pPr>
            <a:r>
              <a:t>结论：</a:t>
            </a:r>
            <a:r>
              <a:rPr b="0">
                <a:solidFill>
                  <a:srgbClr val="1E2A2E"/>
                </a:solidFill>
              </a:rPr>
              <a:t>整数要求要写进模型里，交给 MIP 求解器处理。</a:t>
            </a:r>
          </a:p>
        </p:txBody>
      </p:sp>
      <p:sp>
        <p:nvSpPr>
          <p:cNvPr id="160" name="Text 6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3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 0"/>
          <p:cNvSpPr txBox="1"/>
          <p:nvPr/>
        </p:nvSpPr>
        <p:spPr>
          <a:xfrm>
            <a:off x="640080" y="1459800"/>
            <a:ext cx="4572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400">
                <a:solidFill>
                  <a:srgbClr val="F4A300"/>
                </a:solidFill>
              </a:defRPr>
            </a:lvl1pPr>
          </a:lstStyle>
          <a:p>
            <a:pPr/>
            <a:r>
              <a:t>PART 2</a:t>
            </a:r>
          </a:p>
        </p:txBody>
      </p:sp>
      <p:sp>
        <p:nvSpPr>
          <p:cNvPr id="165" name="Text 1"/>
          <p:cNvSpPr txBox="1"/>
          <p:nvPr/>
        </p:nvSpPr>
        <p:spPr>
          <a:xfrm>
            <a:off x="640079" y="1847849"/>
            <a:ext cx="5852162" cy="1333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0000"/>
              </a:lnSpc>
              <a:defRPr b="1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电池套利，</a:t>
            </a:r>
          </a:p>
          <a:p>
            <a:pPr>
              <a:lnSpc>
                <a:spcPct val="110000"/>
              </a:lnSpc>
              <a:defRPr b="1"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就是同一个问题</a:t>
            </a:r>
          </a:p>
        </p:txBody>
      </p:sp>
      <p:sp>
        <p:nvSpPr>
          <p:cNvPr id="166" name="Text 2"/>
          <p:cNvSpPr txBox="1"/>
          <p:nvPr/>
        </p:nvSpPr>
        <p:spPr>
          <a:xfrm>
            <a:off x="640080" y="3418840"/>
            <a:ext cx="5669280" cy="614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1600">
                <a:solidFill>
                  <a:srgbClr val="BFD8DD"/>
                </a:solidFill>
              </a:defRPr>
            </a:pPr>
            <a:r>
              <a:t>价格低时买电存起来，价格高时放电卖出。</a:t>
            </a:r>
          </a:p>
          <a:p>
            <a:pPr>
              <a:lnSpc>
                <a:spcPct val="120000"/>
              </a:lnSpc>
              <a:defRPr sz="1600">
                <a:solidFill>
                  <a:srgbClr val="BFD8DD"/>
                </a:solidFill>
              </a:defRPr>
            </a:pPr>
            <a:r>
              <a:t>“怎么买卖最赚钱” = “在约束下最大化一个线性目标”。</a:t>
            </a:r>
          </a:p>
        </p:txBody>
      </p:sp>
      <p:sp>
        <p:nvSpPr>
          <p:cNvPr id="167" name="Shape 3"/>
          <p:cNvSpPr/>
          <p:nvPr/>
        </p:nvSpPr>
        <p:spPr>
          <a:xfrm>
            <a:off x="6675119" y="1645920"/>
            <a:ext cx="1828801" cy="914401"/>
          </a:xfrm>
          <a:prstGeom prst="roundRect">
            <a:avLst>
              <a:gd name="adj" fmla="val 8000"/>
            </a:avLst>
          </a:prstGeom>
          <a:solidFill>
            <a:srgbClr val="1741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68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858000" y="1883664"/>
            <a:ext cx="438913" cy="438913"/>
          </a:xfrm>
          <a:prstGeom prst="rect">
            <a:avLst/>
          </a:prstGeom>
          <a:ln w="12700">
            <a:miter lim="400000"/>
          </a:ln>
        </p:spPr>
      </p:pic>
      <p:sp>
        <p:nvSpPr>
          <p:cNvPr id="169" name="Text 4"/>
          <p:cNvSpPr txBox="1"/>
          <p:nvPr/>
        </p:nvSpPr>
        <p:spPr>
          <a:xfrm>
            <a:off x="7406640" y="1935025"/>
            <a:ext cx="1051561" cy="372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低价充电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BUY LOW</a:t>
            </a:r>
          </a:p>
        </p:txBody>
      </p:sp>
      <p:sp>
        <p:nvSpPr>
          <p:cNvPr id="170" name="Shape 5"/>
          <p:cNvSpPr/>
          <p:nvPr/>
        </p:nvSpPr>
        <p:spPr>
          <a:xfrm>
            <a:off x="6675119" y="2743200"/>
            <a:ext cx="1828801" cy="914400"/>
          </a:xfrm>
          <a:prstGeom prst="roundRect">
            <a:avLst>
              <a:gd name="adj" fmla="val 8000"/>
            </a:avLst>
          </a:prstGeom>
          <a:solidFill>
            <a:srgbClr val="1741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71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858000" y="2980944"/>
            <a:ext cx="438913" cy="438913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Text 6"/>
          <p:cNvSpPr txBox="1"/>
          <p:nvPr/>
        </p:nvSpPr>
        <p:spPr>
          <a:xfrm>
            <a:off x="7406640" y="3032305"/>
            <a:ext cx="1051561" cy="3727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FFFFFF"/>
                </a:solidFill>
              </a:defRPr>
            </a:pPr>
            <a:r>
              <a:t>高价放电</a:t>
            </a:r>
          </a:p>
          <a:p>
            <a:pPr>
              <a:defRPr b="1" sz="1200">
                <a:solidFill>
                  <a:srgbClr val="FFFFFF"/>
                </a:solidFill>
              </a:defRPr>
            </a:pPr>
            <a:r>
              <a:t>SELL HIGH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 0"/>
          <p:cNvSpPr txBox="1"/>
          <p:nvPr/>
        </p:nvSpPr>
        <p:spPr>
          <a:xfrm>
            <a:off x="502920" y="285241"/>
            <a:ext cx="81381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2 · 建模</a:t>
            </a:r>
          </a:p>
        </p:txBody>
      </p:sp>
      <p:sp>
        <p:nvSpPr>
          <p:cNvPr id="177" name="Text 1"/>
          <p:cNvSpPr txBox="1"/>
          <p:nvPr/>
        </p:nvSpPr>
        <p:spPr>
          <a:xfrm>
            <a:off x="502920" y="565403"/>
            <a:ext cx="813816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把电池套上同一副骨架</a:t>
            </a:r>
          </a:p>
        </p:txBody>
      </p:sp>
      <p:graphicFrame>
        <p:nvGraphicFramePr>
          <p:cNvPr id="178" name="Table 0"/>
          <p:cNvGraphicFramePr/>
          <p:nvPr/>
        </p:nvGraphicFramePr>
        <p:xfrm>
          <a:off x="502919" y="1554480"/>
          <a:ext cx="8138162" cy="25146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554480"/>
                <a:gridCol w="2651760"/>
                <a:gridCol w="393192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123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家具厂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12333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电池（24 小时日前套利）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12333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0E6E7E"/>
                          </a:solidFill>
                        </a:rPr>
                        <a:t>决策变量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E2A2E"/>
                          </a:solidFill>
                        </a:rPr>
                        <a:t>x 桌子数、y 椅子数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E2A2E"/>
                          </a:solidFill>
                        </a:rPr>
                        <a:t>每小时充电功率 cₜ、放电功率 dₜ、电量 SoCₜ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0E6E7E"/>
                          </a:solidFill>
                        </a:rPr>
                        <a:t>目标函数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E2A2E"/>
                          </a:solidFill>
                        </a:rPr>
                        <a:t>max 300x + 200y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EA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E2A2E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max Σₜ  pₜ · (dₜ − cₜ)   —— 卖电收入减买电成本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EA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300">
                          <a:solidFill>
                            <a:srgbClr val="0E6E7E"/>
                          </a:solidFill>
                        </a:rPr>
                        <a:t>约束条件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E2A2E"/>
                          </a:solidFill>
                        </a:rPr>
                        <a:t>木材 ≤ 40，工时 ≤ 30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1E2A2E"/>
                          </a:solidFill>
                        </a:rPr>
                        <a:t>功率上限、容量上下限、能量守恒、不能同时充放电…</a:t>
                      </a:r>
                    </a:p>
                  </a:txBody>
                  <a:tcPr marL="73152" marR="73152" marT="73152" marB="73152" anchor="ctr" anchorCtr="0" horzOverflow="overflow">
                    <a:lnL w="12700">
                      <a:solidFill>
                        <a:srgbClr val="D7E5E8"/>
                      </a:solidFill>
                    </a:lnL>
                    <a:lnR w="12700">
                      <a:solidFill>
                        <a:srgbClr val="D7E5E8"/>
                      </a:solidFill>
                    </a:lnR>
                    <a:lnT w="12700">
                      <a:solidFill>
                        <a:srgbClr val="D7E5E8"/>
                      </a:solidFill>
                    </a:lnT>
                    <a:lnB w="12700">
                      <a:solidFill>
                        <a:srgbClr val="D7E5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9" name="Text 2"/>
          <p:cNvSpPr txBox="1"/>
          <p:nvPr/>
        </p:nvSpPr>
        <p:spPr>
          <a:xfrm>
            <a:off x="502920" y="4530090"/>
            <a:ext cx="813816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500">
                <a:solidFill>
                  <a:srgbClr val="0E6E7E"/>
                </a:solidFill>
              </a:defRPr>
            </a:pPr>
            <a:r>
              <a:t>唯一的新东西：</a:t>
            </a:r>
            <a:r>
              <a:rPr b="0">
                <a:solidFill>
                  <a:srgbClr val="1E2A2E"/>
                </a:solidFill>
              </a:rPr>
              <a:t>时间。同一组变量在 t = 1…24 重复出现，小时之间由“电量守恒”串联起来。</a:t>
            </a:r>
          </a:p>
        </p:txBody>
      </p:sp>
      <p:sp>
        <p:nvSpPr>
          <p:cNvPr id="180" name="Text 3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 txBox="1"/>
          <p:nvPr/>
        </p:nvSpPr>
        <p:spPr>
          <a:xfrm>
            <a:off x="502920" y="285241"/>
            <a:ext cx="81381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2 · 逐条翻译</a:t>
            </a:r>
          </a:p>
        </p:txBody>
      </p:sp>
      <p:sp>
        <p:nvSpPr>
          <p:cNvPr id="185" name="Text 1"/>
          <p:cNvSpPr txBox="1"/>
          <p:nvPr/>
        </p:nvSpPr>
        <p:spPr>
          <a:xfrm>
            <a:off x="502920" y="565403"/>
            <a:ext cx="813816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约束翻译 (1/2)：物理规则 → 线性式子</a:t>
            </a:r>
          </a:p>
        </p:txBody>
      </p:sp>
      <p:sp>
        <p:nvSpPr>
          <p:cNvPr id="186" name="Shape 2"/>
          <p:cNvSpPr/>
          <p:nvPr/>
        </p:nvSpPr>
        <p:spPr>
          <a:xfrm>
            <a:off x="502919" y="1463039"/>
            <a:ext cx="8138161" cy="713233"/>
          </a:xfrm>
          <a:prstGeom prst="roundRect">
            <a:avLst>
              <a:gd name="adj" fmla="val 7692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7" name="Text 3"/>
          <p:cNvSpPr txBox="1"/>
          <p:nvPr/>
        </p:nvSpPr>
        <p:spPr>
          <a:xfrm>
            <a:off x="731519" y="1692656"/>
            <a:ext cx="14173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E6E7E"/>
                </a:solidFill>
              </a:defRPr>
            </a:lvl1pPr>
          </a:lstStyle>
          <a:p>
            <a:pPr/>
            <a:r>
              <a:t>功率上限</a:t>
            </a:r>
          </a:p>
        </p:txBody>
      </p:sp>
      <p:sp>
        <p:nvSpPr>
          <p:cNvPr id="188" name="Text 4"/>
          <p:cNvSpPr txBox="1"/>
          <p:nvPr/>
        </p:nvSpPr>
        <p:spPr>
          <a:xfrm>
            <a:off x="2240279" y="1711706"/>
            <a:ext cx="30632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5A6B70"/>
                </a:solidFill>
              </a:defRPr>
            </a:lvl1pPr>
          </a:lstStyle>
          <a:p>
            <a:pPr/>
            <a:r>
              <a:t>“逆变器最大 5 MW”</a:t>
            </a:r>
          </a:p>
        </p:txBody>
      </p:sp>
      <p:sp>
        <p:nvSpPr>
          <p:cNvPr id="189" name="Text 5"/>
          <p:cNvSpPr txBox="1"/>
          <p:nvPr/>
        </p:nvSpPr>
        <p:spPr>
          <a:xfrm>
            <a:off x="5394959" y="1717956"/>
            <a:ext cx="3108961" cy="20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233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 ≤ cₜ ≤ 5,   0 ≤ dₜ ≤ 5</a:t>
            </a:r>
          </a:p>
        </p:txBody>
      </p:sp>
      <p:sp>
        <p:nvSpPr>
          <p:cNvPr id="190" name="Shape 6"/>
          <p:cNvSpPr/>
          <p:nvPr/>
        </p:nvSpPr>
        <p:spPr>
          <a:xfrm>
            <a:off x="502919" y="2304288"/>
            <a:ext cx="8138161" cy="713233"/>
          </a:xfrm>
          <a:prstGeom prst="roundRect">
            <a:avLst>
              <a:gd name="adj" fmla="val 7692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1" name="Text 7"/>
          <p:cNvSpPr txBox="1"/>
          <p:nvPr/>
        </p:nvSpPr>
        <p:spPr>
          <a:xfrm>
            <a:off x="731519" y="2533903"/>
            <a:ext cx="14173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E6E7E"/>
                </a:solidFill>
              </a:defRPr>
            </a:lvl1pPr>
          </a:lstStyle>
          <a:p>
            <a:pPr/>
            <a:r>
              <a:t>容量上下限</a:t>
            </a:r>
          </a:p>
        </p:txBody>
      </p:sp>
      <p:sp>
        <p:nvSpPr>
          <p:cNvPr id="192" name="Text 8"/>
          <p:cNvSpPr txBox="1"/>
          <p:nvPr/>
        </p:nvSpPr>
        <p:spPr>
          <a:xfrm>
            <a:off x="2240279" y="2552953"/>
            <a:ext cx="30632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5A6B70"/>
                </a:solidFill>
              </a:defRPr>
            </a:lvl1pPr>
          </a:lstStyle>
          <a:p>
            <a:pPr/>
            <a:r>
              <a:t>“电池 10 MWh，不许过充过放”</a:t>
            </a:r>
          </a:p>
        </p:txBody>
      </p:sp>
      <p:sp>
        <p:nvSpPr>
          <p:cNvPr id="193" name="Text 9"/>
          <p:cNvSpPr txBox="1"/>
          <p:nvPr/>
        </p:nvSpPr>
        <p:spPr>
          <a:xfrm>
            <a:off x="5394959" y="2559204"/>
            <a:ext cx="3108961" cy="20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233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0 ≤ SoCₜ ≤ 10</a:t>
            </a:r>
          </a:p>
        </p:txBody>
      </p:sp>
      <p:sp>
        <p:nvSpPr>
          <p:cNvPr id="194" name="Shape 10"/>
          <p:cNvSpPr/>
          <p:nvPr/>
        </p:nvSpPr>
        <p:spPr>
          <a:xfrm>
            <a:off x="502919" y="3145535"/>
            <a:ext cx="8138161" cy="713233"/>
          </a:xfrm>
          <a:prstGeom prst="roundRect">
            <a:avLst>
              <a:gd name="adj" fmla="val 7692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5" name="Text 11"/>
          <p:cNvSpPr txBox="1"/>
          <p:nvPr/>
        </p:nvSpPr>
        <p:spPr>
          <a:xfrm>
            <a:off x="731519" y="3375152"/>
            <a:ext cx="14173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E6E7E"/>
                </a:solidFill>
              </a:defRPr>
            </a:lvl1pPr>
          </a:lstStyle>
          <a:p>
            <a:pPr/>
            <a:r>
              <a:t>能量守恒</a:t>
            </a:r>
          </a:p>
        </p:txBody>
      </p:sp>
      <p:sp>
        <p:nvSpPr>
          <p:cNvPr id="196" name="Text 12"/>
          <p:cNvSpPr txBox="1"/>
          <p:nvPr/>
        </p:nvSpPr>
        <p:spPr>
          <a:xfrm>
            <a:off x="2240279" y="3394202"/>
            <a:ext cx="30632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5A6B70"/>
                </a:solidFill>
              </a:defRPr>
            </a:lvl1pPr>
          </a:lstStyle>
          <a:p>
            <a:pPr/>
            <a:r>
              <a:t>“这小时的电量 = 上小时 + 充入 − 放出”</a:t>
            </a:r>
          </a:p>
        </p:txBody>
      </p:sp>
      <p:sp>
        <p:nvSpPr>
          <p:cNvPr id="197" name="Text 13"/>
          <p:cNvSpPr txBox="1"/>
          <p:nvPr/>
        </p:nvSpPr>
        <p:spPr>
          <a:xfrm>
            <a:off x="5394959" y="3400452"/>
            <a:ext cx="3108961" cy="203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233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SoCₜ = SoCₜ₋₁ + η·cₜ − dₜ/η</a:t>
            </a:r>
          </a:p>
        </p:txBody>
      </p:sp>
      <p:sp>
        <p:nvSpPr>
          <p:cNvPr id="198" name="Shape 14"/>
          <p:cNvSpPr/>
          <p:nvPr/>
        </p:nvSpPr>
        <p:spPr>
          <a:xfrm>
            <a:off x="502919" y="3986784"/>
            <a:ext cx="8138161" cy="713233"/>
          </a:xfrm>
          <a:prstGeom prst="roundRect">
            <a:avLst>
              <a:gd name="adj" fmla="val 7692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" name="Text 15"/>
          <p:cNvSpPr txBox="1"/>
          <p:nvPr/>
        </p:nvSpPr>
        <p:spPr>
          <a:xfrm>
            <a:off x="731519" y="4216399"/>
            <a:ext cx="141732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E6E7E"/>
                </a:solidFill>
              </a:defRPr>
            </a:lvl1pPr>
          </a:lstStyle>
          <a:p>
            <a:pPr/>
            <a:r>
              <a:t>首尾状态</a:t>
            </a:r>
          </a:p>
        </p:txBody>
      </p:sp>
      <p:sp>
        <p:nvSpPr>
          <p:cNvPr id="200" name="Text 16"/>
          <p:cNvSpPr txBox="1"/>
          <p:nvPr/>
        </p:nvSpPr>
        <p:spPr>
          <a:xfrm>
            <a:off x="2240279" y="4235449"/>
            <a:ext cx="306324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200">
                <a:solidFill>
                  <a:srgbClr val="5A6B70"/>
                </a:solidFill>
              </a:defRPr>
            </a:lvl1pPr>
          </a:lstStyle>
          <a:p>
            <a:pPr/>
            <a:r>
              <a:t>“明天开盘时电量要回到今天的起点”</a:t>
            </a:r>
          </a:p>
        </p:txBody>
      </p:sp>
      <p:sp>
        <p:nvSpPr>
          <p:cNvPr id="201" name="Text 17"/>
          <p:cNvSpPr txBox="1"/>
          <p:nvPr/>
        </p:nvSpPr>
        <p:spPr>
          <a:xfrm>
            <a:off x="5394959" y="4242829"/>
            <a:ext cx="3108961" cy="2011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2333D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SoC₂₄ = SoC₀</a:t>
            </a:r>
          </a:p>
        </p:txBody>
      </p:sp>
      <p:sp>
        <p:nvSpPr>
          <p:cNvPr id="202" name="Text 18"/>
          <p:cNvSpPr txBox="1"/>
          <p:nvPr/>
        </p:nvSpPr>
        <p:spPr>
          <a:xfrm>
            <a:off x="502920" y="4806949"/>
            <a:ext cx="81381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A6B70"/>
                </a:solidFill>
              </a:defRPr>
            </a:lvl1pPr>
          </a:lstStyle>
          <a:p>
            <a:pPr/>
            <a:r>
              <a:t>η ≈ 0.9：充放电效率。每存 1 MWh 实际只吃进 0.9；往返一趟损耗 ~19%。</a:t>
            </a:r>
          </a:p>
        </p:txBody>
      </p:sp>
      <p:sp>
        <p:nvSpPr>
          <p:cNvPr id="203" name="Text 19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Text 0"/>
          <p:cNvSpPr txBox="1"/>
          <p:nvPr/>
        </p:nvSpPr>
        <p:spPr>
          <a:xfrm>
            <a:off x="502920" y="285241"/>
            <a:ext cx="81381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2 · 逐条翻译</a:t>
            </a:r>
          </a:p>
        </p:txBody>
      </p:sp>
      <p:sp>
        <p:nvSpPr>
          <p:cNvPr id="208" name="Text 1"/>
          <p:cNvSpPr txBox="1"/>
          <p:nvPr/>
        </p:nvSpPr>
        <p:spPr>
          <a:xfrm>
            <a:off x="502920" y="565403"/>
            <a:ext cx="813816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约束翻译 (2/2)：这里开始需要 MIP</a:t>
            </a:r>
          </a:p>
        </p:txBody>
      </p:sp>
      <p:sp>
        <p:nvSpPr>
          <p:cNvPr id="209" name="Shape 2"/>
          <p:cNvSpPr/>
          <p:nvPr/>
        </p:nvSpPr>
        <p:spPr>
          <a:xfrm>
            <a:off x="502919" y="1417319"/>
            <a:ext cx="3886201" cy="3200401"/>
          </a:xfrm>
          <a:prstGeom prst="roundRect">
            <a:avLst>
              <a:gd name="adj" fmla="val 2286"/>
            </a:avLst>
          </a:prstGeom>
          <a:solidFill>
            <a:srgbClr val="FBF1F1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0" name="Shape 3"/>
          <p:cNvSpPr/>
          <p:nvPr/>
        </p:nvSpPr>
        <p:spPr>
          <a:xfrm>
            <a:off x="731519" y="1645920"/>
            <a:ext cx="502921" cy="502921"/>
          </a:xfrm>
          <a:prstGeom prst="ellipse">
            <a:avLst/>
          </a:prstGeom>
          <a:solidFill>
            <a:srgbClr val="C94F4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11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62278" y="1776678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212" name="Text 4"/>
          <p:cNvSpPr txBox="1"/>
          <p:nvPr/>
        </p:nvSpPr>
        <p:spPr>
          <a:xfrm>
            <a:off x="1371600" y="1753107"/>
            <a:ext cx="1828800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2333D"/>
                </a:solidFill>
              </a:defRPr>
            </a:lvl1pPr>
          </a:lstStyle>
          <a:p>
            <a:pPr/>
            <a:r>
              <a:t>问题</a:t>
            </a:r>
          </a:p>
        </p:txBody>
      </p:sp>
      <p:sp>
        <p:nvSpPr>
          <p:cNvPr id="213" name="Text 5"/>
          <p:cNvSpPr txBox="1"/>
          <p:nvPr/>
        </p:nvSpPr>
        <p:spPr>
          <a:xfrm>
            <a:off x="731519" y="2609992"/>
            <a:ext cx="3429001" cy="1546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b="1" sz="1300">
                <a:solidFill>
                  <a:srgbClr val="1E2A2E"/>
                </a:solidFill>
              </a:defRPr>
            </a:pPr>
            <a:r>
              <a:t>“同一小时不能又充又放。”</a:t>
            </a:r>
          </a:p>
          <a:p>
            <a:pPr>
              <a:lnSpc>
                <a:spcPct val="115000"/>
              </a:lnSpc>
              <a:defRPr sz="1300"/>
            </a:pPr>
          </a:p>
          <a:p>
            <a:pPr>
              <a:lnSpc>
                <a:spcPct val="115000"/>
              </a:lnSpc>
              <a:defRPr sz="1300">
                <a:solidFill>
                  <a:srgbClr val="5A6B70"/>
                </a:solidFill>
              </a:defRPr>
            </a:pPr>
            <a:r>
              <a:t>这是逻辑（二选一），不是数量关系——没有任何连续线性式能表达它。</a:t>
            </a:r>
          </a:p>
          <a:p>
            <a:pPr>
              <a:lnSpc>
                <a:spcPct val="115000"/>
              </a:lnSpc>
              <a:defRPr sz="1300"/>
            </a:pPr>
          </a:p>
          <a:p>
            <a:pPr>
              <a:lnSpc>
                <a:spcPct val="115000"/>
              </a:lnSpc>
              <a:defRPr sz="1300">
                <a:solidFill>
                  <a:srgbClr val="C94F4F"/>
                </a:solidFill>
              </a:defRPr>
            </a:pPr>
            <a:r>
              <a:t>cₜ · dₜ = 0 ?  ✗ 非线性，LP/MIP 都不收。</a:t>
            </a:r>
          </a:p>
        </p:txBody>
      </p:sp>
      <p:sp>
        <p:nvSpPr>
          <p:cNvPr id="214" name="Shape 6"/>
          <p:cNvSpPr/>
          <p:nvPr/>
        </p:nvSpPr>
        <p:spPr>
          <a:xfrm>
            <a:off x="4754879" y="1417319"/>
            <a:ext cx="3886201" cy="3200401"/>
          </a:xfrm>
          <a:prstGeom prst="roundRect">
            <a:avLst>
              <a:gd name="adj" fmla="val 2286"/>
            </a:avLst>
          </a:prstGeom>
          <a:solidFill>
            <a:srgbClr val="EAF4F6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5" name="Shape 7"/>
          <p:cNvSpPr/>
          <p:nvPr/>
        </p:nvSpPr>
        <p:spPr>
          <a:xfrm>
            <a:off x="4983479" y="1645920"/>
            <a:ext cx="502921" cy="502921"/>
          </a:xfrm>
          <a:prstGeom prst="ellipse">
            <a:avLst/>
          </a:prstGeom>
          <a:solidFill>
            <a:srgbClr val="F4A3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16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114238" y="1776678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217" name="Text 8"/>
          <p:cNvSpPr txBox="1"/>
          <p:nvPr/>
        </p:nvSpPr>
        <p:spPr>
          <a:xfrm>
            <a:off x="5623559" y="1753107"/>
            <a:ext cx="2743201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12333D"/>
                </a:solidFill>
              </a:defRPr>
            </a:lvl1pPr>
          </a:lstStyle>
          <a:p>
            <a:pPr/>
            <a:r>
              <a:t>Binary 开关技巧</a:t>
            </a:r>
          </a:p>
        </p:txBody>
      </p:sp>
      <p:sp>
        <p:nvSpPr>
          <p:cNvPr id="218" name="Text 9"/>
          <p:cNvSpPr txBox="1"/>
          <p:nvPr/>
        </p:nvSpPr>
        <p:spPr>
          <a:xfrm>
            <a:off x="4983479" y="2507529"/>
            <a:ext cx="3429001" cy="17515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300">
                <a:solidFill>
                  <a:srgbClr val="1E2A2E"/>
                </a:solidFill>
              </a:defRPr>
            </a:pPr>
            <a:r>
              <a:t>引入 yₜ ∈ {0,1}（1=充电模式）</a:t>
            </a:r>
          </a:p>
          <a:p>
            <a:pPr>
              <a:lnSpc>
                <a:spcPct val="115000"/>
              </a:lnSpc>
              <a:defRPr sz="1300"/>
            </a:pPr>
          </a:p>
          <a:p>
            <a:pPr>
              <a:lnSpc>
                <a:spcPct val="115000"/>
              </a:lnSpc>
              <a:defRPr b="1" sz="1300">
                <a:solidFill>
                  <a:srgbClr val="12333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cₜ ≤ 5 · yₜ</a:t>
            </a:r>
          </a:p>
          <a:p>
            <a:pPr>
              <a:lnSpc>
                <a:spcPct val="115000"/>
              </a:lnSpc>
              <a:defRPr b="1" sz="1300">
                <a:solidFill>
                  <a:srgbClr val="12333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dₜ ≤ 5 · (1 − yₜ)</a:t>
            </a:r>
          </a:p>
          <a:p>
            <a:pPr>
              <a:lnSpc>
                <a:spcPct val="115000"/>
              </a:lnSpc>
              <a:defRPr sz="1300"/>
            </a:pPr>
          </a:p>
          <a:p>
            <a:pPr>
              <a:lnSpc>
                <a:spcPct val="115000"/>
              </a:lnSpc>
              <a:defRPr sz="1300">
                <a:solidFill>
                  <a:srgbClr val="5A6B70"/>
                </a:solidFill>
              </a:defRPr>
            </a:pPr>
            <a:r>
              <a:t>yₜ=1 → 放电被压成 0；yₜ=0 → 充电被压成 0。两条线性式 + 一个开关 = 逻辑“二选一”。</a:t>
            </a:r>
          </a:p>
        </p:txBody>
      </p:sp>
      <p:sp>
        <p:nvSpPr>
          <p:cNvPr id="219" name="Text 10"/>
          <p:cNvSpPr txBox="1"/>
          <p:nvPr/>
        </p:nvSpPr>
        <p:spPr>
          <a:xfrm>
            <a:off x="502920" y="4765039"/>
            <a:ext cx="813816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E6E7E"/>
                </a:solidFill>
              </a:defRPr>
            </a:lvl1pPr>
          </a:lstStyle>
          <a:p>
            <a:pPr/>
            <a:r>
              <a:t>这就是我们的模型从 LP 变成 MIP 的那一刻。</a:t>
            </a:r>
          </a:p>
        </p:txBody>
      </p:sp>
      <p:sp>
        <p:nvSpPr>
          <p:cNvPr id="220" name="Text 11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 0"/>
          <p:cNvSpPr txBox="1"/>
          <p:nvPr/>
        </p:nvSpPr>
        <p:spPr>
          <a:xfrm>
            <a:off x="502920" y="285241"/>
            <a:ext cx="81381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3 · 代码</a:t>
            </a:r>
          </a:p>
        </p:txBody>
      </p:sp>
      <p:sp>
        <p:nvSpPr>
          <p:cNvPr id="225" name="Text 1"/>
          <p:cNvSpPr txBox="1"/>
          <p:nvPr/>
        </p:nvSpPr>
        <p:spPr>
          <a:xfrm>
            <a:off x="502920" y="565403"/>
            <a:ext cx="813816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docplex (1/2)：声明模型与变量</a:t>
            </a:r>
          </a:p>
        </p:txBody>
      </p:sp>
      <p:sp>
        <p:nvSpPr>
          <p:cNvPr id="226" name="Shape 2"/>
          <p:cNvSpPr/>
          <p:nvPr/>
        </p:nvSpPr>
        <p:spPr>
          <a:xfrm>
            <a:off x="502919" y="1417319"/>
            <a:ext cx="8138161" cy="2971801"/>
          </a:xfrm>
          <a:prstGeom prst="roundRect">
            <a:avLst>
              <a:gd name="adj" fmla="val 2462"/>
            </a:avLst>
          </a:prstGeom>
          <a:solidFill>
            <a:srgbClr val="0F262E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7" name="Text 3"/>
          <p:cNvSpPr txBox="1"/>
          <p:nvPr/>
        </p:nvSpPr>
        <p:spPr>
          <a:xfrm>
            <a:off x="777240" y="1646872"/>
            <a:ext cx="7680960" cy="25584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9FD3D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docplex.mp.model import Model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 = Model(name="battery_arbitrage")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 = range(24)                     # 24 个小时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15000"/>
              </a:lnSpc>
              <a:defRPr sz="1200">
                <a:solidFill>
                  <a:srgbClr val="6E9AA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连续变量：lb/ub 直接就是“功率与容量上限”约束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   = m.continuous_var_list(T, lb=0, ub=5,  name="charge")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   = m.continuous_var_list(T, lb=0, ub=5,  name="discharge")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soc = m.continuous_var_list(T, lb=0, ub=10, name="soc")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15000"/>
              </a:lnSpc>
              <a:defRPr sz="1200">
                <a:solidFill>
                  <a:srgbClr val="6E9AA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0/1 变量：充/放电模式开关 —— MIP 从这里开始</a:t>
            </a:r>
          </a:p>
          <a:p>
            <a:pPr>
              <a:lnSpc>
                <a:spcPct val="115000"/>
              </a:lnSpc>
              <a:defRPr sz="1200">
                <a:solidFill>
                  <a:srgbClr val="FFD9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y   = m.binary_var_list(T, name="is_charging")</a:t>
            </a:r>
          </a:p>
        </p:txBody>
      </p:sp>
      <p:sp>
        <p:nvSpPr>
          <p:cNvPr id="228" name="Text 4"/>
          <p:cNvSpPr txBox="1"/>
          <p:nvPr/>
        </p:nvSpPr>
        <p:spPr>
          <a:xfrm>
            <a:off x="502920" y="4627879"/>
            <a:ext cx="813816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0E6E7E"/>
                </a:solidFill>
              </a:defRPr>
            </a:pPr>
            <a:r>
              <a:t>对应关系：</a:t>
            </a:r>
            <a:r>
              <a:rPr b="0">
                <a:solidFill>
                  <a:srgbClr val="1E2A2E"/>
                </a:solidFill>
              </a:rPr>
              <a:t>数学里的每个符号 = 代码里的一个变量数组；上下界约束在声明时顺手就写完了。</a:t>
            </a:r>
          </a:p>
        </p:txBody>
      </p:sp>
      <p:sp>
        <p:nvSpPr>
          <p:cNvPr id="229" name="Text 5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0"/>
          <p:cNvSpPr txBox="1"/>
          <p:nvPr/>
        </p:nvSpPr>
        <p:spPr>
          <a:xfrm>
            <a:off x="502920" y="285241"/>
            <a:ext cx="81381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300" sz="1200">
                <a:solidFill>
                  <a:srgbClr val="0E6E7E"/>
                </a:solidFill>
              </a:defRPr>
            </a:lvl1pPr>
          </a:lstStyle>
          <a:p>
            <a:pPr/>
            <a:r>
              <a:t>PART 3 · 代码</a:t>
            </a:r>
          </a:p>
        </p:txBody>
      </p:sp>
      <p:sp>
        <p:nvSpPr>
          <p:cNvPr id="234" name="Text 1"/>
          <p:cNvSpPr txBox="1"/>
          <p:nvPr/>
        </p:nvSpPr>
        <p:spPr>
          <a:xfrm>
            <a:off x="502920" y="565403"/>
            <a:ext cx="813816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33D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docplex (2/2)：约束、目标、求解</a:t>
            </a:r>
          </a:p>
        </p:txBody>
      </p:sp>
      <p:sp>
        <p:nvSpPr>
          <p:cNvPr id="235" name="Shape 2"/>
          <p:cNvSpPr/>
          <p:nvPr/>
        </p:nvSpPr>
        <p:spPr>
          <a:xfrm>
            <a:off x="502919" y="1417319"/>
            <a:ext cx="8138161" cy="2971801"/>
          </a:xfrm>
          <a:prstGeom prst="roundRect">
            <a:avLst>
              <a:gd name="adj" fmla="val 2462"/>
            </a:avLst>
          </a:prstGeom>
          <a:solidFill>
            <a:srgbClr val="0F262E"/>
          </a:solidFill>
          <a:ln w="12700">
            <a:miter lim="400000"/>
          </a:ln>
          <a:effectLst>
            <a:outerShdw sx="100000" sy="100000" kx="0" ky="0" algn="b" rotWithShape="0" blurRad="88900" dist="25400" dir="2700000">
              <a:srgbClr val="000000">
                <a:alpha val="14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6" name="Text 3"/>
          <p:cNvSpPr txBox="1"/>
          <p:nvPr/>
        </p:nvSpPr>
        <p:spPr>
          <a:xfrm>
            <a:off x="777240" y="1603057"/>
            <a:ext cx="7680960" cy="26460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for t in T: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m.add_constraint(c[t] &lt;= 5 * y[t])          # 充电开关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m.add_constraint(d[t] &lt;= 5 * (1 - y[t]))    # 放电开关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prev = 5 if t == 0 else soc[t-1]            # 初始电量 5 MWh</a:t>
            </a:r>
          </a:p>
          <a:p>
            <a:pPr>
              <a:lnSpc>
                <a:spcPct val="115000"/>
              </a:lnSpc>
              <a:defRPr sz="1200">
                <a:solidFill>
                  <a:srgbClr val="FFD9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m.add_constraint(soc[t] == prev + 0.9*c[t] - d[t]/0.9)  # 能量守恒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m.add_constraint(soc[23] == 5)                  # 首尾相等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15000"/>
              </a:lnSpc>
              <a:defRPr sz="1200">
                <a:solidFill>
                  <a:srgbClr val="9FD3DC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m.maximize(m.sum(price[t] * (d[t] - c[t]) for t in T))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</a:t>
            </a:r>
          </a:p>
          <a:p>
            <a:pPr>
              <a:lnSpc>
                <a:spcPct val="115000"/>
              </a:lnSpc>
              <a:defRPr sz="1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sol = m.solve()</a:t>
            </a:r>
          </a:p>
          <a:p>
            <a:pPr>
              <a:lnSpc>
                <a:spcPct val="115000"/>
              </a:lnSpc>
              <a:defRPr sz="1200">
                <a:solidFill>
                  <a:srgbClr val="7EE0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print(sol.objective_value)   # → 753.0 (£)</a:t>
            </a:r>
          </a:p>
        </p:txBody>
      </p:sp>
      <p:sp>
        <p:nvSpPr>
          <p:cNvPr id="237" name="Text 4"/>
          <p:cNvSpPr txBox="1"/>
          <p:nvPr/>
        </p:nvSpPr>
        <p:spPr>
          <a:xfrm>
            <a:off x="502920" y="4627879"/>
            <a:ext cx="8138160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400">
                <a:solidFill>
                  <a:srgbClr val="0E6E7E"/>
                </a:solidFill>
              </a:defRPr>
            </a:pPr>
            <a:r>
              <a:t>翻译完成：</a:t>
            </a:r>
            <a:r>
              <a:rPr b="0">
                <a:solidFill>
                  <a:srgbClr val="1E2A2E"/>
                </a:solidFill>
              </a:rPr>
              <a:t>上一页的每条数学式 ↔ 这里的每行 add_constraint，一一对应；求解只需一行 m.solve()。</a:t>
            </a:r>
          </a:p>
        </p:txBody>
      </p:sp>
      <p:sp>
        <p:nvSpPr>
          <p:cNvPr id="238" name="Text 5"/>
          <p:cNvSpPr txBox="1"/>
          <p:nvPr/>
        </p:nvSpPr>
        <p:spPr>
          <a:xfrm>
            <a:off x="8641080" y="4878832"/>
            <a:ext cx="3657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900">
                <a:solidFill>
                  <a:srgbClr val="9AABB0"/>
                </a:solidFill>
              </a:defRPr>
            </a:lvl1pPr>
          </a:lstStyle>
          <a:p>
            <a:pPr/>
            <a: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33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 txBox="1"/>
          <p:nvPr/>
        </p:nvSpPr>
        <p:spPr>
          <a:xfrm>
            <a:off x="640080" y="488119"/>
            <a:ext cx="45720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400" sz="1300">
                <a:solidFill>
                  <a:srgbClr val="F4A300"/>
                </a:solidFill>
              </a:defRPr>
            </a:lvl1pPr>
          </a:lstStyle>
          <a:p>
            <a:pPr/>
            <a:r>
              <a:t>TAKEAWAYS</a:t>
            </a:r>
          </a:p>
        </p:txBody>
      </p:sp>
      <p:sp>
        <p:nvSpPr>
          <p:cNvPr id="243" name="Text 1"/>
          <p:cNvSpPr txBox="1"/>
          <p:nvPr/>
        </p:nvSpPr>
        <p:spPr>
          <a:xfrm>
            <a:off x="640080" y="761999"/>
            <a:ext cx="731520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带走三句话</a:t>
            </a:r>
          </a:p>
        </p:txBody>
      </p:sp>
      <p:sp>
        <p:nvSpPr>
          <p:cNvPr id="244" name="Shape 2"/>
          <p:cNvSpPr/>
          <p:nvPr/>
        </p:nvSpPr>
        <p:spPr>
          <a:xfrm>
            <a:off x="640080" y="1508760"/>
            <a:ext cx="502921" cy="502921"/>
          </a:xfrm>
          <a:prstGeom prst="ellipse">
            <a:avLst/>
          </a:prstGeom>
          <a:solidFill>
            <a:srgbClr val="0E6E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45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0838" y="1639518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Text 3"/>
          <p:cNvSpPr txBox="1"/>
          <p:nvPr/>
        </p:nvSpPr>
        <p:spPr>
          <a:xfrm>
            <a:off x="1325879" y="1529080"/>
            <a:ext cx="420624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建模 = 填三个空</a:t>
            </a:r>
          </a:p>
        </p:txBody>
      </p:sp>
      <p:sp>
        <p:nvSpPr>
          <p:cNvPr id="247" name="Text 4"/>
          <p:cNvSpPr txBox="1"/>
          <p:nvPr/>
        </p:nvSpPr>
        <p:spPr>
          <a:xfrm>
            <a:off x="1325880" y="1963165"/>
            <a:ext cx="42976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FD8DD"/>
                </a:solidFill>
              </a:defRPr>
            </a:lvl1pPr>
          </a:lstStyle>
          <a:p>
            <a:pPr/>
            <a:r>
              <a:t>决策变量、目标函数、约束。任何业务问题先套这副骨架。</a:t>
            </a:r>
          </a:p>
        </p:txBody>
      </p:sp>
      <p:sp>
        <p:nvSpPr>
          <p:cNvPr id="248" name="Shape 5"/>
          <p:cNvSpPr/>
          <p:nvPr/>
        </p:nvSpPr>
        <p:spPr>
          <a:xfrm>
            <a:off x="640080" y="2377439"/>
            <a:ext cx="502921" cy="502921"/>
          </a:xfrm>
          <a:prstGeom prst="ellipse">
            <a:avLst/>
          </a:prstGeom>
          <a:solidFill>
            <a:srgbClr val="0E6E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49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70838" y="2508199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250" name="Text 6"/>
          <p:cNvSpPr txBox="1"/>
          <p:nvPr/>
        </p:nvSpPr>
        <p:spPr>
          <a:xfrm>
            <a:off x="1325879" y="2397759"/>
            <a:ext cx="420624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LP 管数量，binary 管逻辑</a:t>
            </a:r>
          </a:p>
        </p:txBody>
      </p:sp>
      <p:sp>
        <p:nvSpPr>
          <p:cNvPr id="251" name="Text 7"/>
          <p:cNvSpPr txBox="1"/>
          <p:nvPr/>
        </p:nvSpPr>
        <p:spPr>
          <a:xfrm>
            <a:off x="1325880" y="2707077"/>
            <a:ext cx="4297680" cy="465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FD8DD"/>
                </a:solidFill>
              </a:defRPr>
            </a:lvl1pPr>
          </a:lstStyle>
          <a:p>
            <a:pPr/>
            <a:r>
              <a:t>连续关系用线性式；“二选一”用 0/1 开关——那一刻它成为 MIP。</a:t>
            </a:r>
          </a:p>
        </p:txBody>
      </p:sp>
      <p:sp>
        <p:nvSpPr>
          <p:cNvPr id="252" name="Shape 8"/>
          <p:cNvSpPr/>
          <p:nvPr/>
        </p:nvSpPr>
        <p:spPr>
          <a:xfrm>
            <a:off x="640080" y="3246120"/>
            <a:ext cx="502921" cy="502921"/>
          </a:xfrm>
          <a:prstGeom prst="ellipse">
            <a:avLst/>
          </a:prstGeom>
          <a:solidFill>
            <a:srgbClr val="0E6E7E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53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70838" y="3376879"/>
            <a:ext cx="241403" cy="241403"/>
          </a:xfrm>
          <a:prstGeom prst="rect">
            <a:avLst/>
          </a:prstGeom>
          <a:ln w="12700">
            <a:miter lim="400000"/>
          </a:ln>
        </p:spPr>
      </p:pic>
      <p:sp>
        <p:nvSpPr>
          <p:cNvPr id="254" name="Text 9"/>
          <p:cNvSpPr txBox="1"/>
          <p:nvPr/>
        </p:nvSpPr>
        <p:spPr>
          <a:xfrm>
            <a:off x="1325879" y="3266440"/>
            <a:ext cx="420624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代码是数学的直译</a:t>
            </a:r>
          </a:p>
        </p:txBody>
      </p:sp>
      <p:sp>
        <p:nvSpPr>
          <p:cNvPr id="255" name="Text 10"/>
          <p:cNvSpPr txBox="1"/>
          <p:nvPr/>
        </p:nvSpPr>
        <p:spPr>
          <a:xfrm>
            <a:off x="1325880" y="3700525"/>
            <a:ext cx="429768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FD8DD"/>
                </a:solidFill>
              </a:defRPr>
            </a:lvl1pPr>
          </a:lstStyle>
          <a:p>
            <a:pPr/>
            <a:r>
              <a:t>docplex 一行对一式；难的是把业务规则写对，不是写代码。</a:t>
            </a:r>
          </a:p>
        </p:txBody>
      </p:sp>
      <p:sp>
        <p:nvSpPr>
          <p:cNvPr id="256" name="Shape 11"/>
          <p:cNvSpPr/>
          <p:nvPr/>
        </p:nvSpPr>
        <p:spPr>
          <a:xfrm>
            <a:off x="5989320" y="1508760"/>
            <a:ext cx="2606041" cy="2514601"/>
          </a:xfrm>
          <a:prstGeom prst="roundRect">
            <a:avLst>
              <a:gd name="adj" fmla="val 2909"/>
            </a:avLst>
          </a:prstGeom>
          <a:solidFill>
            <a:srgbClr val="17414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Text 12"/>
          <p:cNvSpPr txBox="1"/>
          <p:nvPr/>
        </p:nvSpPr>
        <p:spPr>
          <a:xfrm>
            <a:off x="6217920" y="1737359"/>
            <a:ext cx="21945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4A300"/>
                </a:solidFill>
              </a:defRPr>
            </a:lvl1pPr>
          </a:lstStyle>
          <a:p>
            <a:pPr/>
            <a:r>
              <a:t>下一步可以加什么？</a:t>
            </a:r>
          </a:p>
        </p:txBody>
      </p:sp>
      <p:sp>
        <p:nvSpPr>
          <p:cNvPr id="258" name="Text 13"/>
          <p:cNvSpPr txBox="1"/>
          <p:nvPr/>
        </p:nvSpPr>
        <p:spPr>
          <a:xfrm>
            <a:off x="6217920" y="2063221"/>
            <a:ext cx="2240281" cy="1908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sz="1100">
                <a:solidFill>
                  <a:srgbClr val="E4F0F2"/>
                </a:solidFill>
              </a:defRPr>
            </a:pPr>
            <a:r>
              <a:t>电池老化成本（循环次数上限）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100">
                <a:solidFill>
                  <a:srgbClr val="E4F0F2"/>
                </a:solidFill>
              </a:defRPr>
            </a:pPr>
            <a:r>
              <a:t>多市场：辅助服务 + 现货同时优化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100">
                <a:solidFill>
                  <a:srgbClr val="E4F0F2"/>
                </a:solidFill>
              </a:defRPr>
            </a:pPr>
            <a:r>
              <a:t>价格不确定性：随机规划 / rolling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sz="1100">
                <a:solidFill>
                  <a:srgbClr val="E4F0F2"/>
                </a:solidFill>
              </a:defRPr>
            </a:pPr>
            <a:r>
              <a:t>更细颗粒度：半小时 / 5 分钟结算</a:t>
            </a:r>
          </a:p>
        </p:txBody>
      </p:sp>
      <p:sp>
        <p:nvSpPr>
          <p:cNvPr id="259" name="Text 14"/>
          <p:cNvSpPr txBox="1"/>
          <p:nvPr/>
        </p:nvSpPr>
        <p:spPr>
          <a:xfrm>
            <a:off x="640079" y="4481830"/>
            <a:ext cx="786384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Q &amp; A  ·  谢谢！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