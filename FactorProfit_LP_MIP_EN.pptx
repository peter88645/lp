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hape 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Opening: today has one goal — to show that deciding when a battery charges, discharges and trades is a mathematical optimization problem, and one we can solve with off-the-shelf tools (docplex). No optimization background needed; we start from zero.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Roadmap: first pin down what 'optimization problem' actually means; then use an example that has nothing to do with batteries to understand LP and MIP; third, the key mental leap — battery arbitrage is the same problem in different clothes; finally, translate the maths into Python with docplex.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three parts: decision variables are the knobs in our hands; the objective is the scoreboard; constraints are the rules of the game. Modelling means translating business language into these three things — then the solver does the dirty work. This is the single most important mental model of the talk.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LP: objective and constraints are all linear, variables continuous. The payoff: fast, stable, globally optimal. Don't memorise the standard form — just remember its shape: first-order terms only. Later we can check that every line of the battery model has exactly this shape.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Deliberately battery-free example to keep the cognitive load low. Left: what the boss says. Right: the same sentences in maths — two variables, one profit objective, two resource constraints. Note the *translation act* itself, business rule → equation, line by line. That's exactly what we'll do to the battery.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With two variables we can draw it. Shaded = feasible region; yellow dashed lines are iso-profit lines — slide them outwards until they leave the region, landing on a corner: (7.5, 5), profit 3250. Key fact: LP optima live on vertices; the simplex method hops between them cleverly. But wait — 7.5 tables? That plants the question for the next slides.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MIP changes one thing: some variables must be integer or 0/1. Don't underestimate it — binaries let us express logic inside a linear framework: on/off, do/don't, either/or. The battery's 'no simultaneous charge &amp; discharge' will need exactly this. The price: solving becomes NP-hard, so use binaries sparingly.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tempting shortcut: solve the LP, then round. On the chart: grey dot is the LP optimum (7.5,5); rounding to (7,5) gives only 3100; the true integer optimum is (8,4) at 3200 — nowhere near the LP point. Worse, rounding can be infeasible. So integrality goes into the model, and branch &amp; bound deals with it. That completes our LP/MIP intuition.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Now the key mental leap. A storage battery makes money in a plain way: buy low, sell high. It sounds like a trading problem — but look again: hourly charge/discharge volumes are decision variables; total revenue is the objective; the battery's physical spec is the constraint set. Structurally identical to the furniture factory — just 24 hours × a few variables per hour.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Shape 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Row by row: variables — the factory has 2 numbers, the battery has 3 per hour (charge, discharge, SoC), 72 in total; objective — both are linear revenue expressions, price p_t times net energy sold; constraints — resource limits become the battery's physical spec. The single qualitative change is time: hours are chained by the energy-balance equation. Nothing else is new.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Fixed format: business language on the left, maths on the right. Power limits are just variable bounds; capacity limits are SoC bounds; the crucial one is energy balance — it chains adjacent hours and is the backbone equation of the model. Efficiency η makes each round trip cost ~19%, so the model won't churn energy pointlessly. Finally start = end, so the strategy is a sustainable day, not emptying the battery for a one-day P&amp;L. Note: every line is linear — so far this is still an LP.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Everything so far was LP. But 'no simultaneous charge &amp; discharge' is a logical constraint: the product form is nonlinear and can't go in. Classic trick: add a 0/1 switch y_t and wire it into the power limits with two linear inequalities — flip the switch to charging and the discharge limit collapses to zero, and vice versa. One binary + two linear rows = one piece of logic. At this moment the model officially becomes a MIP — which is why we covered MIP in part 1.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hape 2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Down to code. docplex is IBM CPLEX's Python modelling API — designed so the code reads like the maths. Step 1: create a Model. Step 2: declare variables. continuous_var_list creates 24 continuous variables at once, and its lb/ub arguments knock out the power-limit and capacity constraints as a side effect. binary_var_list creates the 24 switches — the highlighted line is the line where the model becomes a MIP.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 block: inside the loop, the two switch constraints and the energy balance (highlighted — literally the backbone equation from slide 11); outside the loop, start = end; the objective is Σ p_t(d_t−c_t) verbatim; then m.solve(). Compare with the maths on the previous slides: not a single line here is new knowledge — it's mechanical translation. This instance solves to £753; next slide shows what it actually did.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40080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2333D"/>
          </a:solidFill>
          <a:ln w="31750">
            <a:solidFill>
              <a:srgbClr val="4FA3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8339328" y="1883664"/>
            <a:ext cx="128017" cy="347473"/>
          </a:xfrm>
          <a:prstGeom prst="roundRect">
            <a:avLst>
              <a:gd name="adj" fmla="val 21429"/>
            </a:avLst>
          </a:prstGeom>
          <a:solidFill>
            <a:srgbClr val="4FA3B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6510528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BA8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7095743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BA84A">
              <a:alpha val="64999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7680959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450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50607" y="278892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5"/>
          <p:cNvSpPr txBox="1"/>
          <p:nvPr/>
        </p:nvSpPr>
        <p:spPr>
          <a:xfrm>
            <a:off x="640080" y="1265359"/>
            <a:ext cx="56692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4A300"/>
                </a:solidFill>
              </a:defRPr>
            </a:lvl1pPr>
          </a:lstStyle>
          <a:p>
            <a:pPr/>
            <a:r>
              <a:t>Factory OPTIMIZATION 101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40079" y="1778508"/>
            <a:ext cx="5760722" cy="969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b="1" sz="3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Turning Factory Profit into a</a:t>
            </a:r>
          </a:p>
          <a:p>
            <a:pPr>
              <a:lnSpc>
                <a:spcPct val="112000"/>
              </a:lnSpc>
              <a:defRPr b="1" sz="3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Solvable Optimization Problem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640080" y="3335721"/>
            <a:ext cx="5486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BFD8DD"/>
                </a:solidFill>
              </a:defRPr>
            </a:lvl1pPr>
          </a:lstStyle>
          <a:p>
            <a:pPr/>
            <a:r>
              <a:t>From LP &amp; MIP intuition to your first factory dispatch model in docplex</a:t>
            </a:r>
          </a:p>
        </p:txBody>
      </p:sp>
      <p:sp>
        <p:nvSpPr>
          <p:cNvPr id="29" name="Shape 8"/>
          <p:cNvSpPr/>
          <p:nvPr/>
        </p:nvSpPr>
        <p:spPr>
          <a:xfrm>
            <a:off x="640079" y="4160520"/>
            <a:ext cx="7863842" cy="1"/>
          </a:xfrm>
          <a:prstGeom prst="line">
            <a:avLst/>
          </a:prstGeom>
          <a:ln w="12700">
            <a:solidFill>
              <a:srgbClr val="2C55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9"/>
          <p:cNvSpPr txBox="1"/>
          <p:nvPr/>
        </p:nvSpPr>
        <p:spPr>
          <a:xfrm>
            <a:off x="640080" y="4374695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FA0A8"/>
                </a:solidFill>
              </a:defRPr>
            </a:lvl1pPr>
          </a:lstStyle>
          <a:p>
            <a:pPr/>
            <a:r>
              <a:t>Quant / Trading Analytics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Today's roadmap: four steps</a:t>
            </a:r>
          </a:p>
        </p:txBody>
      </p:sp>
      <p:sp>
        <p:nvSpPr>
          <p:cNvPr id="36" name="Shape 2"/>
          <p:cNvSpPr/>
          <p:nvPr/>
        </p:nvSpPr>
        <p:spPr>
          <a:xfrm>
            <a:off x="502919" y="1508760"/>
            <a:ext cx="1993394" cy="310896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Text 3"/>
          <p:cNvSpPr txBox="1"/>
          <p:nvPr/>
        </p:nvSpPr>
        <p:spPr>
          <a:xfrm>
            <a:off x="66751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" name="Shape 4"/>
          <p:cNvSpPr/>
          <p:nvPr/>
        </p:nvSpPr>
        <p:spPr>
          <a:xfrm>
            <a:off x="1810511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1271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5"/>
          <p:cNvSpPr txBox="1"/>
          <p:nvPr/>
        </p:nvSpPr>
        <p:spPr>
          <a:xfrm>
            <a:off x="667512" y="2557080"/>
            <a:ext cx="1664207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333D"/>
                </a:solidFill>
              </a:defRPr>
            </a:lvl1pPr>
          </a:lstStyle>
          <a:p>
            <a:pPr/>
            <a:r>
              <a:t>What is an optimization problem?</a:t>
            </a:r>
          </a:p>
        </p:txBody>
      </p:sp>
      <p:sp>
        <p:nvSpPr>
          <p:cNvPr id="41" name="Text 6"/>
          <p:cNvSpPr txBox="1"/>
          <p:nvPr/>
        </p:nvSpPr>
        <p:spPr>
          <a:xfrm>
            <a:off x="667512" y="3805096"/>
            <a:ext cx="1664207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Variables, objective, constraints — the three parts</a:t>
            </a:r>
          </a:p>
        </p:txBody>
      </p:sp>
      <p:sp>
        <p:nvSpPr>
          <p:cNvPr id="42" name="Shape 7"/>
          <p:cNvSpPr/>
          <p:nvPr/>
        </p:nvSpPr>
        <p:spPr>
          <a:xfrm>
            <a:off x="2697479" y="1508760"/>
            <a:ext cx="1993394" cy="310896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" name="Text 8"/>
          <p:cNvSpPr txBox="1"/>
          <p:nvPr/>
        </p:nvSpPr>
        <p:spPr>
          <a:xfrm>
            <a:off x="2862071" y="1690369"/>
            <a:ext cx="73152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" name="Shape 9"/>
          <p:cNvSpPr/>
          <p:nvPr/>
        </p:nvSpPr>
        <p:spPr>
          <a:xfrm>
            <a:off x="4005071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35830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10"/>
          <p:cNvSpPr txBox="1"/>
          <p:nvPr/>
        </p:nvSpPr>
        <p:spPr>
          <a:xfrm>
            <a:off x="2862072" y="2785680"/>
            <a:ext cx="166420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333D"/>
                </a:solidFill>
              </a:defRPr>
            </a:lvl1pPr>
          </a:lstStyle>
          <a:p>
            <a:pPr/>
            <a:r>
              <a:t>LP and MIP</a:t>
            </a:r>
          </a:p>
        </p:txBody>
      </p:sp>
      <p:sp>
        <p:nvSpPr>
          <p:cNvPr id="47" name="Text 11"/>
          <p:cNvSpPr txBox="1"/>
          <p:nvPr/>
        </p:nvSpPr>
        <p:spPr>
          <a:xfrm>
            <a:off x="2862072" y="3805096"/>
            <a:ext cx="1664207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Build intuition with a tiny furniture-factory example</a:t>
            </a:r>
          </a:p>
        </p:txBody>
      </p:sp>
      <p:sp>
        <p:nvSpPr>
          <p:cNvPr id="48" name="Shape 12"/>
          <p:cNvSpPr/>
          <p:nvPr/>
        </p:nvSpPr>
        <p:spPr>
          <a:xfrm>
            <a:off x="4892040" y="1508760"/>
            <a:ext cx="1993393" cy="310896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Text 13"/>
          <p:cNvSpPr txBox="1"/>
          <p:nvPr/>
        </p:nvSpPr>
        <p:spPr>
          <a:xfrm>
            <a:off x="505663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0" name="Shape 14"/>
          <p:cNvSpPr/>
          <p:nvPr/>
        </p:nvSpPr>
        <p:spPr>
          <a:xfrm>
            <a:off x="6199632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30391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15"/>
          <p:cNvSpPr txBox="1"/>
          <p:nvPr/>
        </p:nvSpPr>
        <p:spPr>
          <a:xfrm>
            <a:off x="5056632" y="2671380"/>
            <a:ext cx="166420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333D"/>
                </a:solidFill>
              </a:defRPr>
            </a:lvl1pPr>
          </a:lstStyle>
          <a:p>
            <a:pPr/>
            <a:r>
              <a:t>Battery = the same problem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5056632" y="3722546"/>
            <a:ext cx="1664208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Map charge/discharge decisions onto the same three parts</a:t>
            </a:r>
          </a:p>
        </p:txBody>
      </p:sp>
      <p:sp>
        <p:nvSpPr>
          <p:cNvPr id="54" name="Shape 17"/>
          <p:cNvSpPr/>
          <p:nvPr/>
        </p:nvSpPr>
        <p:spPr>
          <a:xfrm>
            <a:off x="7086600" y="1508760"/>
            <a:ext cx="1993393" cy="310896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Text 18"/>
          <p:cNvSpPr txBox="1"/>
          <p:nvPr/>
        </p:nvSpPr>
        <p:spPr>
          <a:xfrm>
            <a:off x="725119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" name="Shape 19"/>
          <p:cNvSpPr/>
          <p:nvPr/>
        </p:nvSpPr>
        <p:spPr>
          <a:xfrm>
            <a:off x="8394192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7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24950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20"/>
          <p:cNvSpPr txBox="1"/>
          <p:nvPr/>
        </p:nvSpPr>
        <p:spPr>
          <a:xfrm>
            <a:off x="7251192" y="2671380"/>
            <a:ext cx="166420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2333D"/>
                </a:solidFill>
              </a:defRPr>
            </a:lvl1pPr>
          </a:lstStyle>
          <a:p>
            <a:pPr/>
            <a:r>
              <a:t>Implement with docplex</a:t>
            </a:r>
          </a:p>
        </p:txBody>
      </p:sp>
      <p:sp>
        <p:nvSpPr>
          <p:cNvPr id="59" name="Text 21"/>
          <p:cNvSpPr txBox="1"/>
          <p:nvPr/>
        </p:nvSpPr>
        <p:spPr>
          <a:xfrm>
            <a:off x="7251192" y="3805096"/>
            <a:ext cx="1664208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Translate every constraint into code, line by line</a:t>
            </a:r>
          </a:p>
        </p:txBody>
      </p:sp>
      <p:sp>
        <p:nvSpPr>
          <p:cNvPr id="60" name="Text 22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FOUNDATIONS</a:t>
            </a:r>
          </a:p>
        </p:txBody>
      </p:sp>
      <p:sp>
        <p:nvSpPr>
          <p:cNvPr id="65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Every optimization problem has three parts</a:t>
            </a:r>
          </a:p>
        </p:txBody>
      </p:sp>
      <p:sp>
        <p:nvSpPr>
          <p:cNvPr id="66" name="Shape 2"/>
          <p:cNvSpPr/>
          <p:nvPr/>
        </p:nvSpPr>
        <p:spPr>
          <a:xfrm>
            <a:off x="502919" y="1463039"/>
            <a:ext cx="2651762" cy="274320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3"/>
          <p:cNvSpPr/>
          <p:nvPr/>
        </p:nvSpPr>
        <p:spPr>
          <a:xfrm>
            <a:off x="731519" y="1691639"/>
            <a:ext cx="566929" cy="566929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8920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ext 4"/>
          <p:cNvSpPr txBox="1"/>
          <p:nvPr/>
        </p:nvSpPr>
        <p:spPr>
          <a:xfrm>
            <a:off x="1417319" y="1804101"/>
            <a:ext cx="1600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Decision variables</a:t>
            </a:r>
          </a:p>
        </p:txBody>
      </p:sp>
      <p:sp>
        <p:nvSpPr>
          <p:cNvPr id="70" name="Text 5"/>
          <p:cNvSpPr txBox="1"/>
          <p:nvPr/>
        </p:nvSpPr>
        <p:spPr>
          <a:xfrm>
            <a:off x="1417319" y="2153456"/>
            <a:ext cx="1600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A6B70"/>
                </a:solidFill>
              </a:defRPr>
            </a:lvl1pPr>
          </a:lstStyle>
          <a:p>
            <a:pPr/>
            <a:r>
              <a:t>What we control</a:t>
            </a:r>
          </a:p>
        </p:txBody>
      </p:sp>
      <p:sp>
        <p:nvSpPr>
          <p:cNvPr id="71" name="Text 6"/>
          <p:cNvSpPr txBox="1"/>
          <p:nvPr/>
        </p:nvSpPr>
        <p:spPr>
          <a:xfrm>
            <a:off x="731519" y="3026943"/>
            <a:ext cx="2194561" cy="57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The numbers we get to choose.</a:t>
            </a:r>
          </a:p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e.g. how many tables to build; how much to charge each hour.</a:t>
            </a:r>
          </a:p>
        </p:txBody>
      </p:sp>
      <p:sp>
        <p:nvSpPr>
          <p:cNvPr id="72" name="Shape 7"/>
          <p:cNvSpPr/>
          <p:nvPr/>
        </p:nvSpPr>
        <p:spPr>
          <a:xfrm>
            <a:off x="3383279" y="1463039"/>
            <a:ext cx="2651761" cy="274320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8"/>
          <p:cNvSpPr/>
          <p:nvPr/>
        </p:nvSpPr>
        <p:spPr>
          <a:xfrm>
            <a:off x="3611879" y="1691639"/>
            <a:ext cx="566929" cy="566929"/>
          </a:xfrm>
          <a:prstGeom prst="ellipse">
            <a:avLst/>
          </a:prstGeom>
          <a:solidFill>
            <a:srgbClr val="F4A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4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59281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 9"/>
          <p:cNvSpPr txBox="1"/>
          <p:nvPr/>
        </p:nvSpPr>
        <p:spPr>
          <a:xfrm>
            <a:off x="4297679" y="1804101"/>
            <a:ext cx="1600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76" name="Text 10"/>
          <p:cNvSpPr txBox="1"/>
          <p:nvPr/>
        </p:nvSpPr>
        <p:spPr>
          <a:xfrm>
            <a:off x="4297679" y="2153456"/>
            <a:ext cx="1600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A6B70"/>
                </a:solidFill>
              </a:defRPr>
            </a:lvl1pPr>
          </a:lstStyle>
          <a:p>
            <a:pPr/>
            <a:r>
              <a:t>The scoreboard</a:t>
            </a:r>
          </a:p>
        </p:txBody>
      </p:sp>
      <p:sp>
        <p:nvSpPr>
          <p:cNvPr id="77" name="Text 11"/>
          <p:cNvSpPr txBox="1"/>
          <p:nvPr/>
        </p:nvSpPr>
        <p:spPr>
          <a:xfrm>
            <a:off x="3611879" y="3026943"/>
            <a:ext cx="2194561" cy="57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One number measuring 'how good', to maximise or minimise.</a:t>
            </a:r>
          </a:p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e.g. max profit, min cost.</a:t>
            </a:r>
          </a:p>
        </p:txBody>
      </p:sp>
      <p:sp>
        <p:nvSpPr>
          <p:cNvPr id="78" name="Shape 12"/>
          <p:cNvSpPr/>
          <p:nvPr/>
        </p:nvSpPr>
        <p:spPr>
          <a:xfrm>
            <a:off x="6263640" y="1463039"/>
            <a:ext cx="2651761" cy="274320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Shape 13"/>
          <p:cNvSpPr/>
          <p:nvPr/>
        </p:nvSpPr>
        <p:spPr>
          <a:xfrm>
            <a:off x="6492240" y="1691639"/>
            <a:ext cx="566929" cy="566929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39641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ext 14"/>
          <p:cNvSpPr txBox="1"/>
          <p:nvPr/>
        </p:nvSpPr>
        <p:spPr>
          <a:xfrm>
            <a:off x="7178040" y="1804101"/>
            <a:ext cx="1600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Constraints</a:t>
            </a:r>
          </a:p>
        </p:txBody>
      </p:sp>
      <p:sp>
        <p:nvSpPr>
          <p:cNvPr id="82" name="Text 15"/>
          <p:cNvSpPr txBox="1"/>
          <p:nvPr/>
        </p:nvSpPr>
        <p:spPr>
          <a:xfrm>
            <a:off x="7178040" y="2153456"/>
            <a:ext cx="1600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A6B70"/>
                </a:solidFill>
              </a:defRPr>
            </a:lvl1pPr>
          </a:lstStyle>
          <a:p>
            <a:pPr/>
            <a:r>
              <a:t>The rules</a:t>
            </a:r>
          </a:p>
        </p:txBody>
      </p:sp>
      <p:sp>
        <p:nvSpPr>
          <p:cNvPr id="83" name="Text 16"/>
          <p:cNvSpPr txBox="1"/>
          <p:nvPr/>
        </p:nvSpPr>
        <p:spPr>
          <a:xfrm>
            <a:off x="6492240" y="2922281"/>
            <a:ext cx="2194561" cy="784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Real-world rules the decisions must obey.</a:t>
            </a:r>
          </a:p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e.g. limited wood; limited battery capacity.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502920" y="4478459"/>
            <a:ext cx="813816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0E6E7E"/>
                </a:solidFill>
              </a:defRPr>
            </a:pPr>
            <a:r>
              <a:t>In one sentence: </a:t>
            </a:r>
            <a:r>
              <a:rPr b="0">
                <a:solidFill>
                  <a:srgbClr val="1E2A2E"/>
                </a:solidFill>
              </a:rPr>
              <a:t>among all choices that satisfy the constraints, find the one with the best objective. The solver does the finding — our job is to state the problem clearly.</a:t>
            </a:r>
          </a:p>
        </p:txBody>
      </p:sp>
      <p:sp>
        <p:nvSpPr>
          <p:cNvPr id="85" name="Text 18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FOUNDATIONS</a:t>
            </a:r>
          </a:p>
        </p:txBody>
      </p:sp>
      <p:sp>
        <p:nvSpPr>
          <p:cNvPr id="90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LP: Linear Programming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502919" y="1577779"/>
            <a:ext cx="4206242" cy="3062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  <a:defRPr b="1" sz="1600">
                <a:solidFill>
                  <a:srgbClr val="12333D"/>
                </a:solidFill>
              </a:defRPr>
            </a:pPr>
            <a:r>
              <a:t>What does "linear" mean?</a:t>
            </a:r>
            <a:endParaRPr sz="1300"/>
          </a:p>
          <a:p>
            <a:pPr>
              <a:spcBef>
                <a:spcPts val="600"/>
              </a:spcBef>
              <a:defRPr sz="1300"/>
            </a:pP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Objective is a linear combination of variables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All constraints are linear equalities / inequalities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Variables are continuous — 7.5 or 3.14 are fine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b="1" sz="1600">
                <a:solidFill>
                  <a:srgbClr val="12333D"/>
                </a:solidFill>
              </a:defRPr>
            </a:pPr>
            <a:r>
              <a:t>Why everyone loves LP</a:t>
            </a:r>
            <a:endParaRPr sz="1300"/>
          </a:p>
          <a:p>
            <a:pPr>
              <a:spcBef>
                <a:spcPts val="600"/>
              </a:spcBef>
              <a:defRPr sz="1300"/>
            </a:pP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Extremely fast — millions of variables are fine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Solution is globally optimal, no local optima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Mature solvers out of the box: CPLEX, Gurobi, CBC…</a:t>
            </a:r>
          </a:p>
        </p:txBody>
      </p:sp>
      <p:sp>
        <p:nvSpPr>
          <p:cNvPr id="92" name="Shape 3"/>
          <p:cNvSpPr/>
          <p:nvPr/>
        </p:nvSpPr>
        <p:spPr>
          <a:xfrm>
            <a:off x="5029200" y="1463039"/>
            <a:ext cx="3611880" cy="3063241"/>
          </a:xfrm>
          <a:prstGeom prst="roundRect">
            <a:avLst>
              <a:gd name="adj" fmla="val 2388"/>
            </a:avLst>
          </a:prstGeom>
          <a:solidFill>
            <a:srgbClr val="12333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" name="Text 4"/>
          <p:cNvSpPr txBox="1"/>
          <p:nvPr/>
        </p:nvSpPr>
        <p:spPr>
          <a:xfrm>
            <a:off x="5303520" y="1740846"/>
            <a:ext cx="30632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F4A300"/>
                </a:solidFill>
              </a:defRPr>
            </a:lvl1pPr>
          </a:lstStyle>
          <a:p>
            <a:pPr/>
            <a:r>
              <a:t>STANDARD FORM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5303520" y="2209874"/>
            <a:ext cx="3108961" cy="1523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   c₁x₁ + c₂x₂ + … + cₙxₙ</a:t>
            </a:r>
          </a:p>
          <a:p>
            <a:pPr>
              <a:lnSpc>
                <a:spcPct val="112000"/>
              </a:lnSpc>
              <a:defRPr sz="1300"/>
            </a:pPr>
          </a:p>
          <a:p>
            <a:pPr>
              <a:lnSpc>
                <a:spcPct val="112000"/>
              </a:lnSpc>
              <a:defRPr sz="1300">
                <a:solidFill>
                  <a:srgbClr val="8FB8C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s.t.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a₁₁x₁ + … + a₁ₙxₙ  ≤  b₁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a₂₁x₁ + … + a₂ₙxₙ  ≤  b₂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…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xᵢ ≥ 0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5303520" y="4082087"/>
            <a:ext cx="3063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BFD8DD"/>
                </a:solidFill>
              </a:defRPr>
            </a:lvl1pPr>
          </a:lstStyle>
          <a:p>
            <a:pPr/>
            <a:r>
              <a:t>First-order terms only — no x², x·y or log(x)</a:t>
            </a:r>
          </a:p>
        </p:txBody>
      </p:sp>
      <p:sp>
        <p:nvSpPr>
          <p:cNvPr id="96" name="Text 7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EXAMPLE</a:t>
            </a:r>
          </a:p>
        </p:txBody>
      </p:sp>
      <p:sp>
        <p:nvSpPr>
          <p:cNvPr id="101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toy example: what should the factory make?</a:t>
            </a:r>
          </a:p>
        </p:txBody>
      </p:sp>
      <p:sp>
        <p:nvSpPr>
          <p:cNvPr id="102" name="Shape 2"/>
          <p:cNvSpPr/>
          <p:nvPr/>
        </p:nvSpPr>
        <p:spPr>
          <a:xfrm>
            <a:off x="502919" y="1417319"/>
            <a:ext cx="3886201" cy="3154681"/>
          </a:xfrm>
          <a:prstGeom prst="roundRect">
            <a:avLst>
              <a:gd name="adj" fmla="val 2319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Shape 3"/>
          <p:cNvSpPr/>
          <p:nvPr/>
        </p:nvSpPr>
        <p:spPr>
          <a:xfrm>
            <a:off x="731519" y="1618488"/>
            <a:ext cx="502921" cy="50292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4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2278" y="1749246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4"/>
          <p:cNvSpPr txBox="1"/>
          <p:nvPr/>
        </p:nvSpPr>
        <p:spPr>
          <a:xfrm>
            <a:off x="1371600" y="1781241"/>
            <a:ext cx="283464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Business language</a:t>
            </a:r>
          </a:p>
        </p:txBody>
      </p:sp>
      <p:sp>
        <p:nvSpPr>
          <p:cNvPr id="106" name="Text 5"/>
          <p:cNvSpPr txBox="1"/>
          <p:nvPr/>
        </p:nvSpPr>
        <p:spPr>
          <a:xfrm>
            <a:off x="731519" y="2796979"/>
            <a:ext cx="3474722" cy="1081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Table: £300 profit, 4 wood, 2 labour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Chair: £200 profit, 2 wood, 3 labour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Wood available ≤ 40, labour ≤ 30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b="1" sz="1300">
                <a:solidFill>
                  <a:srgbClr val="0E6E7E"/>
                </a:solidFill>
              </a:defRPr>
            </a:pPr>
            <a:r>
              <a:t>Q: how many of each to maximise profit?</a:t>
            </a:r>
          </a:p>
        </p:txBody>
      </p:sp>
      <p:pic>
        <p:nvPicPr>
          <p:cNvPr id="107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98847" y="278892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Shape 6"/>
          <p:cNvSpPr/>
          <p:nvPr/>
        </p:nvSpPr>
        <p:spPr>
          <a:xfrm>
            <a:off x="5029200" y="1417319"/>
            <a:ext cx="3611880" cy="3154681"/>
          </a:xfrm>
          <a:prstGeom prst="roundRect">
            <a:avLst>
              <a:gd name="adj" fmla="val 2319"/>
            </a:avLst>
          </a:prstGeom>
          <a:solidFill>
            <a:srgbClr val="12333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Text 7"/>
          <p:cNvSpPr txBox="1"/>
          <p:nvPr/>
        </p:nvSpPr>
        <p:spPr>
          <a:xfrm>
            <a:off x="5303520" y="1676839"/>
            <a:ext cx="30175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F4A300"/>
                </a:solidFill>
              </a:defRPr>
            </a:lvl1pPr>
          </a:lstStyle>
          <a:p>
            <a:pPr/>
            <a:r>
              <a:t>THE SAME, IN MATHS</a:t>
            </a:r>
          </a:p>
        </p:txBody>
      </p:sp>
      <p:sp>
        <p:nvSpPr>
          <p:cNvPr id="110" name="Text 8"/>
          <p:cNvSpPr txBox="1"/>
          <p:nvPr/>
        </p:nvSpPr>
        <p:spPr>
          <a:xfrm>
            <a:off x="5303520" y="2393065"/>
            <a:ext cx="3108961" cy="1523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vars: x = tables, y = chairs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b="1" sz="13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   300x + 200y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s.t.  4x + 2y ≤ 40  (wood)</a:t>
            </a:r>
          </a:p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2x + 3y ≤ 30  (labour)</a:t>
            </a:r>
          </a:p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x, y ≥ 0</a:t>
            </a:r>
          </a:p>
        </p:txBody>
      </p:sp>
      <p:sp>
        <p:nvSpPr>
          <p:cNvPr id="111" name="Text 9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EXAMPLE</a:t>
            </a:r>
          </a:p>
        </p:txBody>
      </p:sp>
      <p:sp>
        <p:nvSpPr>
          <p:cNvPr id="116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Geometric intuition: the optimum sits on a corner</a:t>
            </a:r>
          </a:p>
        </p:txBody>
      </p:sp>
      <p:pic>
        <p:nvPicPr>
          <p:cNvPr id="117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1480" y="1371600"/>
            <a:ext cx="4617721" cy="3465577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Shape 2"/>
          <p:cNvSpPr/>
          <p:nvPr/>
        </p:nvSpPr>
        <p:spPr>
          <a:xfrm>
            <a:off x="5303520" y="1554480"/>
            <a:ext cx="457201" cy="45720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9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22391" y="167335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 3"/>
          <p:cNvSpPr txBox="1"/>
          <p:nvPr/>
        </p:nvSpPr>
        <p:spPr>
          <a:xfrm>
            <a:off x="5943599" y="1599115"/>
            <a:ext cx="31546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</a:defRPr>
            </a:lvl1pPr>
          </a:lstStyle>
          <a:p>
            <a:pPr/>
            <a:r>
              <a:t>Shaded area = feasible region</a:t>
            </a:r>
          </a:p>
        </p:txBody>
      </p:sp>
      <p:sp>
        <p:nvSpPr>
          <p:cNvPr id="121" name="Text 4"/>
          <p:cNvSpPr txBox="1"/>
          <p:nvPr/>
        </p:nvSpPr>
        <p:spPr>
          <a:xfrm>
            <a:off x="5943599" y="2044876"/>
            <a:ext cx="31089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Every (x, y) that satisfies all constraints. More constraints → smaller region.</a:t>
            </a:r>
          </a:p>
        </p:txBody>
      </p:sp>
      <p:sp>
        <p:nvSpPr>
          <p:cNvPr id="122" name="Shape 5"/>
          <p:cNvSpPr/>
          <p:nvPr/>
        </p:nvSpPr>
        <p:spPr>
          <a:xfrm>
            <a:off x="5303520" y="2606039"/>
            <a:ext cx="457201" cy="45720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3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22391" y="272491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6"/>
          <p:cNvSpPr txBox="1"/>
          <p:nvPr/>
        </p:nvSpPr>
        <p:spPr>
          <a:xfrm>
            <a:off x="5943599" y="2650674"/>
            <a:ext cx="31546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</a:defRPr>
            </a:lvl1pPr>
          </a:lstStyle>
          <a:p>
            <a:pPr/>
            <a:r>
              <a:t>Dashed lines = iso-profit</a:t>
            </a:r>
          </a:p>
        </p:txBody>
      </p:sp>
      <p:sp>
        <p:nvSpPr>
          <p:cNvPr id="125" name="Text 7"/>
          <p:cNvSpPr txBox="1"/>
          <p:nvPr/>
        </p:nvSpPr>
        <p:spPr>
          <a:xfrm>
            <a:off x="5943599" y="3096436"/>
            <a:ext cx="31089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Push them up-right for more profit — until you can't push any further.</a:t>
            </a:r>
          </a:p>
        </p:txBody>
      </p:sp>
      <p:sp>
        <p:nvSpPr>
          <p:cNvPr id="126" name="Shape 8"/>
          <p:cNvSpPr/>
          <p:nvPr/>
        </p:nvSpPr>
        <p:spPr>
          <a:xfrm>
            <a:off x="5303520" y="3657600"/>
            <a:ext cx="457201" cy="457200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7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22391" y="377647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ext 9"/>
          <p:cNvSpPr txBox="1"/>
          <p:nvPr/>
        </p:nvSpPr>
        <p:spPr>
          <a:xfrm>
            <a:off x="5943599" y="3702235"/>
            <a:ext cx="31546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</a:defRPr>
            </a:lvl1pPr>
          </a:lstStyle>
          <a:p>
            <a:pPr/>
            <a:r>
              <a:t>Optimum at a vertex</a:t>
            </a:r>
          </a:p>
        </p:txBody>
      </p:sp>
      <p:sp>
        <p:nvSpPr>
          <p:cNvPr id="129" name="Text 10"/>
          <p:cNvSpPr txBox="1"/>
          <p:nvPr/>
        </p:nvSpPr>
        <p:spPr>
          <a:xfrm>
            <a:off x="5943599" y="4147996"/>
            <a:ext cx="31089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6B70"/>
                </a:solidFill>
              </a:defRPr>
            </a:lvl1pPr>
          </a:lstStyle>
          <a:p>
            <a:pPr/>
            <a:r>
              <a:t>An LP optimum always sits on a corner point — this is why solvers are so fast.</a:t>
            </a:r>
          </a:p>
        </p:txBody>
      </p:sp>
      <p:sp>
        <p:nvSpPr>
          <p:cNvPr id="130" name="Text 11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FOUNDATIONS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MIP: when variables can't take "half"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502920" y="1501579"/>
            <a:ext cx="8138160" cy="471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600">
                <a:solidFill>
                  <a:srgbClr val="12333D"/>
                </a:solidFill>
              </a:defRPr>
            </a:pPr>
            <a:r>
              <a:t>MIP = Mixed-Integer Programming</a:t>
            </a:r>
          </a:p>
          <a:p>
            <a:pPr>
              <a:spcBef>
                <a:spcPts val="400"/>
              </a:spcBef>
              <a:defRPr sz="1300">
                <a:solidFill>
                  <a:srgbClr val="5A6B70"/>
                </a:solidFill>
              </a:defRPr>
            </a:pPr>
            <a:r>
              <a:t>Still linear objective &amp; constraints — but some variables are restricted to integers or 0/1.</a:t>
            </a:r>
          </a:p>
        </p:txBody>
      </p:sp>
      <p:sp>
        <p:nvSpPr>
          <p:cNvPr id="137" name="Shape 3"/>
          <p:cNvSpPr/>
          <p:nvPr/>
        </p:nvSpPr>
        <p:spPr>
          <a:xfrm>
            <a:off x="502919" y="2240279"/>
            <a:ext cx="2651762" cy="1965961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Text 4"/>
          <p:cNvSpPr txBox="1"/>
          <p:nvPr/>
        </p:nvSpPr>
        <p:spPr>
          <a:xfrm>
            <a:off x="731519" y="2471613"/>
            <a:ext cx="21945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Integer variables</a:t>
            </a:r>
          </a:p>
        </p:txBody>
      </p:sp>
      <p:sp>
        <p:nvSpPr>
          <p:cNvPr id="139" name="Text 5"/>
          <p:cNvSpPr txBox="1"/>
          <p:nvPr/>
        </p:nvSpPr>
        <p:spPr>
          <a:xfrm>
            <a:off x="731519" y="2818552"/>
            <a:ext cx="2194561" cy="1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E6E7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x ∈ {0, 1, 2, …}</a:t>
            </a:r>
          </a:p>
        </p:txBody>
      </p:sp>
      <p:sp>
        <p:nvSpPr>
          <p:cNvPr id="140" name="Text 6"/>
          <p:cNvSpPr txBox="1"/>
          <p:nvPr/>
        </p:nvSpPr>
        <p:spPr>
          <a:xfrm>
            <a:off x="731519" y="3501202"/>
            <a:ext cx="219456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E2A2E"/>
                </a:solidFill>
              </a:defRPr>
            </a:pPr>
            <a:r>
              <a:t>Quantities must be whole:</a:t>
            </a:r>
          </a:p>
          <a:p>
            <a:pPr>
              <a:lnSpc>
                <a:spcPct val="110000"/>
              </a:lnSpc>
              <a:defRPr sz="1100">
                <a:solidFill>
                  <a:srgbClr val="1E2A2E"/>
                </a:solidFill>
              </a:defRPr>
            </a:pPr>
            <a:r>
              <a:t>you can't build 7.5 tables.</a:t>
            </a:r>
          </a:p>
        </p:txBody>
      </p:sp>
      <p:sp>
        <p:nvSpPr>
          <p:cNvPr id="141" name="Shape 7"/>
          <p:cNvSpPr/>
          <p:nvPr/>
        </p:nvSpPr>
        <p:spPr>
          <a:xfrm>
            <a:off x="3383279" y="2240279"/>
            <a:ext cx="2651761" cy="1965961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Text 8"/>
          <p:cNvSpPr txBox="1"/>
          <p:nvPr/>
        </p:nvSpPr>
        <p:spPr>
          <a:xfrm>
            <a:off x="3611879" y="2471613"/>
            <a:ext cx="21945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Binary variables</a:t>
            </a:r>
          </a:p>
        </p:txBody>
      </p:sp>
      <p:sp>
        <p:nvSpPr>
          <p:cNvPr id="143" name="Text 9"/>
          <p:cNvSpPr txBox="1"/>
          <p:nvPr/>
        </p:nvSpPr>
        <p:spPr>
          <a:xfrm>
            <a:off x="3611879" y="2818552"/>
            <a:ext cx="2194561" cy="1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4A3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y ∈ {0, 1}</a:t>
            </a:r>
          </a:p>
        </p:txBody>
      </p:sp>
      <p:sp>
        <p:nvSpPr>
          <p:cNvPr id="144" name="Text 10"/>
          <p:cNvSpPr txBox="1"/>
          <p:nvPr/>
        </p:nvSpPr>
        <p:spPr>
          <a:xfrm>
            <a:off x="3611879" y="3501202"/>
            <a:ext cx="219456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E2A2E"/>
                </a:solidFill>
              </a:defRPr>
            </a:pPr>
            <a:r>
              <a:t>Yes/no switch decisions:</a:t>
            </a:r>
          </a:p>
          <a:p>
            <a:pPr>
              <a:lnSpc>
                <a:spcPct val="110000"/>
              </a:lnSpc>
              <a:defRPr sz="1100">
                <a:solidFill>
                  <a:srgbClr val="1E2A2E"/>
                </a:solidFill>
              </a:defRPr>
            </a:pPr>
            <a:r>
              <a:t>unit on or off? charge or discharge?</a:t>
            </a:r>
          </a:p>
        </p:txBody>
      </p:sp>
      <p:sp>
        <p:nvSpPr>
          <p:cNvPr id="145" name="Shape 11"/>
          <p:cNvSpPr/>
          <p:nvPr/>
        </p:nvSpPr>
        <p:spPr>
          <a:xfrm>
            <a:off x="6263640" y="2240279"/>
            <a:ext cx="2651761" cy="1965961"/>
          </a:xfrm>
          <a:prstGeom prst="roundRect">
            <a:avLst>
              <a:gd name="adj" fmla="val 3721"/>
            </a:avLst>
          </a:prstGeom>
          <a:solidFill>
            <a:srgbClr val="FBF1F1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Text 12"/>
          <p:cNvSpPr txBox="1"/>
          <p:nvPr/>
        </p:nvSpPr>
        <p:spPr>
          <a:xfrm>
            <a:off x="6492240" y="2471613"/>
            <a:ext cx="21945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The price</a:t>
            </a:r>
          </a:p>
        </p:txBody>
      </p:sp>
      <p:sp>
        <p:nvSpPr>
          <p:cNvPr id="147" name="Text 13"/>
          <p:cNvSpPr txBox="1"/>
          <p:nvPr/>
        </p:nvSpPr>
        <p:spPr>
          <a:xfrm>
            <a:off x="6492240" y="2823464"/>
            <a:ext cx="21945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C94F4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Harder to solve</a:t>
            </a:r>
          </a:p>
        </p:txBody>
      </p:sp>
      <p:sp>
        <p:nvSpPr>
          <p:cNvPr id="148" name="Text 14"/>
          <p:cNvSpPr txBox="1"/>
          <p:nvPr/>
        </p:nvSpPr>
        <p:spPr>
          <a:xfrm>
            <a:off x="6492240" y="3411938"/>
            <a:ext cx="2194561" cy="49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E2A2E"/>
                </a:solidFill>
              </a:defRPr>
            </a:lvl1pPr>
          </a:lstStyle>
          <a:p>
            <a:pPr/>
            <a:r>
              <a:t>Combinatorial explosion; branch &amp; bound prunes it, but large models slow down.</a:t>
            </a:r>
          </a:p>
        </p:txBody>
      </p:sp>
      <p:sp>
        <p:nvSpPr>
          <p:cNvPr id="149" name="Text 15"/>
          <p:cNvSpPr txBox="1"/>
          <p:nvPr/>
        </p:nvSpPr>
        <p:spPr>
          <a:xfrm>
            <a:off x="502920" y="4408740"/>
            <a:ext cx="813816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E6E7E"/>
                </a:solidFill>
              </a:defRPr>
            </a:pPr>
            <a:r>
              <a:t>The key power: </a:t>
            </a:r>
            <a:r>
              <a:rPr b="0">
                <a:solidFill>
                  <a:srgbClr val="1E2A2E"/>
                </a:solidFill>
              </a:rPr>
              <a:t>binary variables express logic — either/or, if…then, fixed start-up costs. Pure LP simply cannot do this.</a:t>
            </a:r>
          </a:p>
        </p:txBody>
      </p:sp>
      <p:sp>
        <p:nvSpPr>
          <p:cNvPr id="150" name="Text 16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EXAMPLE</a:t>
            </a:r>
          </a:p>
        </p:txBody>
      </p:sp>
      <p:sp>
        <p:nvSpPr>
          <p:cNvPr id="155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can't we just round the LP solution?</a:t>
            </a:r>
          </a:p>
        </p:txBody>
      </p:sp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1480" y="1371600"/>
            <a:ext cx="4617721" cy="3465577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2"/>
          <p:cNvSpPr/>
          <p:nvPr/>
        </p:nvSpPr>
        <p:spPr>
          <a:xfrm>
            <a:off x="5303520" y="1554480"/>
            <a:ext cx="3337560" cy="2286001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Text 3"/>
          <p:cNvSpPr txBox="1"/>
          <p:nvPr/>
        </p:nvSpPr>
        <p:spPr>
          <a:xfrm>
            <a:off x="5532120" y="2039619"/>
            <a:ext cx="297180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5A6B7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LP optimum: (7.5, 5) → £3250</a:t>
            </a:r>
          </a:p>
          <a:p>
            <a:pPr>
              <a:lnSpc>
                <a:spcPct val="140000"/>
              </a:lnSpc>
              <a:defRPr sz="1200">
                <a:solidFill>
                  <a:srgbClr val="C94F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Rounded:    (7, 5)   → £3100</a:t>
            </a:r>
          </a:p>
          <a:p>
            <a:pPr>
              <a:lnSpc>
                <a:spcPct val="140000"/>
              </a:lnSpc>
              <a:defRPr b="1" sz="1200">
                <a:solidFill>
                  <a:srgbClr val="1B7A3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MIP optimum:(8, 4)   → £3200</a:t>
            </a:r>
          </a:p>
        </p:txBody>
      </p:sp>
      <p:sp>
        <p:nvSpPr>
          <p:cNvPr id="159" name="Text 4"/>
          <p:cNvSpPr txBox="1"/>
          <p:nvPr/>
        </p:nvSpPr>
        <p:spPr>
          <a:xfrm>
            <a:off x="5532120" y="3091487"/>
            <a:ext cx="292608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A2E"/>
                </a:solidFill>
              </a:defRPr>
            </a:lvl1pPr>
          </a:lstStyle>
          <a:p>
            <a:pPr/>
            <a:r>
              <a:t>The integer optimum need not sit next to the LP optimum — and rounding can even be infeasible.</a:t>
            </a:r>
          </a:p>
        </p:txBody>
      </p:sp>
      <p:sp>
        <p:nvSpPr>
          <p:cNvPr id="160" name="Text 5"/>
          <p:cNvSpPr txBox="1"/>
          <p:nvPr/>
        </p:nvSpPr>
        <p:spPr>
          <a:xfrm>
            <a:off x="5303520" y="4249859"/>
            <a:ext cx="338328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0E6E7E"/>
                </a:solidFill>
              </a:defRPr>
            </a:pPr>
            <a:r>
              <a:t>Conclusion: </a:t>
            </a:r>
            <a:r>
              <a:rPr b="0">
                <a:solidFill>
                  <a:srgbClr val="1E2A2E"/>
                </a:solidFill>
              </a:rPr>
              <a:t>integrality belongs inside the model — let the MIP solver handle it.</a:t>
            </a:r>
          </a:p>
        </p:txBody>
      </p:sp>
      <p:sp>
        <p:nvSpPr>
          <p:cNvPr id="161" name="Text 6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640080" y="1459800"/>
            <a:ext cx="4572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400">
                <a:solidFill>
                  <a:srgbClr val="F4A300"/>
                </a:solidFill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640079" y="2021204"/>
            <a:ext cx="5852162" cy="986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Battery arbitrage</a:t>
            </a:r>
          </a:p>
          <a:p>
            <a:pPr>
              <a:lnSpc>
                <a:spcPct val="110000"/>
              </a:lnSpc>
              <a:defRPr b="1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is the same problem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640079" y="3521124"/>
            <a:ext cx="5760722" cy="455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BFD8DD"/>
                </a:solidFill>
              </a:defRPr>
            </a:pPr>
            <a:r>
              <a:t>Buy energy when it's cheap, store it, sell when it's expensive.</a:t>
            </a:r>
          </a:p>
          <a:p>
            <a:pPr>
              <a:lnSpc>
                <a:spcPct val="120000"/>
              </a:lnSpc>
              <a:defRPr sz="1400">
                <a:solidFill>
                  <a:srgbClr val="BFD8DD"/>
                </a:solidFill>
              </a:defRPr>
            </a:pPr>
            <a:r>
              <a:t>"How do I trade profitably?" = "maximise a linear objective under constraints".</a:t>
            </a:r>
          </a:p>
        </p:txBody>
      </p:sp>
      <p:sp>
        <p:nvSpPr>
          <p:cNvPr id="168" name="Shape 3"/>
          <p:cNvSpPr/>
          <p:nvPr/>
        </p:nvSpPr>
        <p:spPr>
          <a:xfrm>
            <a:off x="6675119" y="1645920"/>
            <a:ext cx="1828801" cy="914401"/>
          </a:xfrm>
          <a:prstGeom prst="roundRect">
            <a:avLst>
              <a:gd name="adj" fmla="val 8000"/>
            </a:avLst>
          </a:prstGeom>
          <a:solidFill>
            <a:srgbClr val="174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58000" y="1883664"/>
            <a:ext cx="438913" cy="438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4"/>
          <p:cNvSpPr txBox="1"/>
          <p:nvPr/>
        </p:nvSpPr>
        <p:spPr>
          <a:xfrm>
            <a:off x="7406640" y="1947725"/>
            <a:ext cx="10515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CHARGE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BUY LOW</a:t>
            </a:r>
          </a:p>
        </p:txBody>
      </p:sp>
      <p:sp>
        <p:nvSpPr>
          <p:cNvPr id="171" name="Shape 5"/>
          <p:cNvSpPr/>
          <p:nvPr/>
        </p:nvSpPr>
        <p:spPr>
          <a:xfrm>
            <a:off x="6675119" y="2743200"/>
            <a:ext cx="1828801" cy="914400"/>
          </a:xfrm>
          <a:prstGeom prst="roundRect">
            <a:avLst>
              <a:gd name="adj" fmla="val 8000"/>
            </a:avLst>
          </a:prstGeom>
          <a:solidFill>
            <a:srgbClr val="174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2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58000" y="2980944"/>
            <a:ext cx="438913" cy="438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 6"/>
          <p:cNvSpPr txBox="1"/>
          <p:nvPr/>
        </p:nvSpPr>
        <p:spPr>
          <a:xfrm>
            <a:off x="7406640" y="3045005"/>
            <a:ext cx="10515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DISCHARGE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SELL HIGH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MODELLING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Fitting the battery onto the same skeleton</a:t>
            </a:r>
          </a:p>
        </p:txBody>
      </p:sp>
      <p:graphicFrame>
        <p:nvGraphicFramePr>
          <p:cNvPr id="179" name="Table 0"/>
          <p:cNvGraphicFramePr/>
          <p:nvPr/>
        </p:nvGraphicFramePr>
        <p:xfrm>
          <a:off x="502919" y="1554480"/>
          <a:ext cx="8138161" cy="2514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63040"/>
                <a:gridCol w="246888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Furniture factory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Battery (24-hour day-ahead arbitrage)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E6E7E"/>
                          </a:solidFill>
                        </a:rPr>
                        <a:t>Variables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</a:rPr>
                        <a:t>x tables, y chairs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</a:rPr>
                        <a:t>hourly charge cₜ, discharge dₜ, state of charge SoCₜ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E6E7E"/>
                          </a:solidFill>
                        </a:rPr>
                        <a:t>Objective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</a:rPr>
                        <a:t>max 300x + 200y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 Σₜ pₜ · (dₜ − cₜ)  — sales revenue minus purchase cost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E6E7E"/>
                          </a:solidFill>
                        </a:rPr>
                        <a:t>Constraints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</a:rPr>
                        <a:t>wood ≤ 40, labour ≤ 30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A2E"/>
                          </a:solidFill>
                        </a:rPr>
                        <a:t>power limits, capacity bounds, energy balance, no simultaneous charge &amp; discharge…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Text 2"/>
          <p:cNvSpPr txBox="1"/>
          <p:nvPr/>
        </p:nvSpPr>
        <p:spPr>
          <a:xfrm>
            <a:off x="502920" y="4454460"/>
            <a:ext cx="813816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E6E7E"/>
                </a:solidFill>
              </a:defRPr>
            </a:pPr>
            <a:r>
              <a:t>The only new ingredient: </a:t>
            </a:r>
            <a:r>
              <a:rPr b="0">
                <a:solidFill>
                  <a:srgbClr val="1E2A2E"/>
                </a:solidFill>
              </a:rPr>
              <a:t>time. The same variables repeat for t = 1…24, and the hours are linked together by energy balance.</a:t>
            </a:r>
          </a:p>
        </p:txBody>
      </p:sp>
      <p:sp>
        <p:nvSpPr>
          <p:cNvPr id="181" name="Text 3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TRANSLATION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Translating constraints (1/2): physics → linear</a:t>
            </a:r>
          </a:p>
        </p:txBody>
      </p:sp>
      <p:sp>
        <p:nvSpPr>
          <p:cNvPr id="187" name="Shape 2"/>
          <p:cNvSpPr/>
          <p:nvPr/>
        </p:nvSpPr>
        <p:spPr>
          <a:xfrm>
            <a:off x="502919" y="1463039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Text 3"/>
          <p:cNvSpPr txBox="1"/>
          <p:nvPr/>
        </p:nvSpPr>
        <p:spPr>
          <a:xfrm>
            <a:off x="731519" y="1736275"/>
            <a:ext cx="14173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</a:defRPr>
            </a:lvl1pPr>
          </a:lstStyle>
          <a:p>
            <a:pPr/>
            <a:r>
              <a:t>Power limit</a:t>
            </a:r>
          </a:p>
        </p:txBody>
      </p:sp>
      <p:sp>
        <p:nvSpPr>
          <p:cNvPr id="189" name="Text 4"/>
          <p:cNvSpPr txBox="1"/>
          <p:nvPr/>
        </p:nvSpPr>
        <p:spPr>
          <a:xfrm>
            <a:off x="2240279" y="1752522"/>
            <a:ext cx="30632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"the inverter is rated at 5 MW"</a:t>
            </a:r>
          </a:p>
        </p:txBody>
      </p:sp>
      <p:sp>
        <p:nvSpPr>
          <p:cNvPr id="190" name="Text 5"/>
          <p:cNvSpPr txBox="1"/>
          <p:nvPr/>
        </p:nvSpPr>
        <p:spPr>
          <a:xfrm>
            <a:off x="5394959" y="1717956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 ≤ cₜ ≤ 5,   0 ≤ dₜ ≤ 5</a:t>
            </a:r>
          </a:p>
        </p:txBody>
      </p:sp>
      <p:sp>
        <p:nvSpPr>
          <p:cNvPr id="191" name="Shape 6"/>
          <p:cNvSpPr/>
          <p:nvPr/>
        </p:nvSpPr>
        <p:spPr>
          <a:xfrm>
            <a:off x="502919" y="2304288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Text 7"/>
          <p:cNvSpPr txBox="1"/>
          <p:nvPr/>
        </p:nvSpPr>
        <p:spPr>
          <a:xfrm>
            <a:off x="731519" y="2577523"/>
            <a:ext cx="14173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</a:defRPr>
            </a:lvl1pPr>
          </a:lstStyle>
          <a:p>
            <a:pPr/>
            <a:r>
              <a:t>Capacity bounds</a:t>
            </a:r>
          </a:p>
        </p:txBody>
      </p:sp>
      <p:sp>
        <p:nvSpPr>
          <p:cNvPr id="193" name="Text 8"/>
          <p:cNvSpPr txBox="1"/>
          <p:nvPr/>
        </p:nvSpPr>
        <p:spPr>
          <a:xfrm>
            <a:off x="2240279" y="2593770"/>
            <a:ext cx="30632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"10 MWh pack — never over/under-charge"</a:t>
            </a:r>
          </a:p>
        </p:txBody>
      </p:sp>
      <p:sp>
        <p:nvSpPr>
          <p:cNvPr id="194" name="Text 9"/>
          <p:cNvSpPr txBox="1"/>
          <p:nvPr/>
        </p:nvSpPr>
        <p:spPr>
          <a:xfrm>
            <a:off x="5394959" y="2559204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 ≤ SoCₜ ≤ 10</a:t>
            </a:r>
          </a:p>
        </p:txBody>
      </p:sp>
      <p:sp>
        <p:nvSpPr>
          <p:cNvPr id="195" name="Shape 10"/>
          <p:cNvSpPr/>
          <p:nvPr/>
        </p:nvSpPr>
        <p:spPr>
          <a:xfrm>
            <a:off x="502919" y="3145535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Text 11"/>
          <p:cNvSpPr txBox="1"/>
          <p:nvPr/>
        </p:nvSpPr>
        <p:spPr>
          <a:xfrm>
            <a:off x="731519" y="3418771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</a:defRPr>
            </a:lvl1pPr>
          </a:lstStyle>
          <a:p>
            <a:pPr/>
            <a:r>
              <a:t>Energy balance</a:t>
            </a:r>
          </a:p>
        </p:txBody>
      </p:sp>
      <p:sp>
        <p:nvSpPr>
          <p:cNvPr id="197" name="Text 12"/>
          <p:cNvSpPr txBox="1"/>
          <p:nvPr/>
        </p:nvSpPr>
        <p:spPr>
          <a:xfrm>
            <a:off x="2240279" y="3435018"/>
            <a:ext cx="30632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"this hour's energy = last hour's + in − out"</a:t>
            </a:r>
          </a:p>
        </p:txBody>
      </p:sp>
      <p:sp>
        <p:nvSpPr>
          <p:cNvPr id="198" name="Text 13"/>
          <p:cNvSpPr txBox="1"/>
          <p:nvPr/>
        </p:nvSpPr>
        <p:spPr>
          <a:xfrm>
            <a:off x="5394959" y="3400452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SoCₜ = SoCₜ₋₁ + η·cₜ − dₜ/η</a:t>
            </a:r>
          </a:p>
        </p:txBody>
      </p:sp>
      <p:sp>
        <p:nvSpPr>
          <p:cNvPr id="199" name="Shape 14"/>
          <p:cNvSpPr/>
          <p:nvPr/>
        </p:nvSpPr>
        <p:spPr>
          <a:xfrm>
            <a:off x="502919" y="3986784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Text 15"/>
          <p:cNvSpPr txBox="1"/>
          <p:nvPr/>
        </p:nvSpPr>
        <p:spPr>
          <a:xfrm>
            <a:off x="731519" y="4260018"/>
            <a:ext cx="14173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</a:defRPr>
            </a:lvl1pPr>
          </a:lstStyle>
          <a:p>
            <a:pPr/>
            <a:r>
              <a:t>Start = end</a:t>
            </a:r>
          </a:p>
        </p:txBody>
      </p:sp>
      <p:sp>
        <p:nvSpPr>
          <p:cNvPr id="201" name="Text 16"/>
          <p:cNvSpPr txBox="1"/>
          <p:nvPr/>
        </p:nvSpPr>
        <p:spPr>
          <a:xfrm>
            <a:off x="2240279" y="4276266"/>
            <a:ext cx="30632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"be back at today's level by tomorrow's open"</a:t>
            </a:r>
          </a:p>
        </p:txBody>
      </p:sp>
      <p:sp>
        <p:nvSpPr>
          <p:cNvPr id="202" name="Text 17"/>
          <p:cNvSpPr txBox="1"/>
          <p:nvPr/>
        </p:nvSpPr>
        <p:spPr>
          <a:xfrm>
            <a:off x="5394959" y="4242829"/>
            <a:ext cx="3108961" cy="201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SoC₂₄ = SoC₀</a:t>
            </a:r>
          </a:p>
        </p:txBody>
      </p:sp>
      <p:sp>
        <p:nvSpPr>
          <p:cNvPr id="203" name="Text 18"/>
          <p:cNvSpPr txBox="1"/>
          <p:nvPr/>
        </p:nvSpPr>
        <p:spPr>
          <a:xfrm>
            <a:off x="502920" y="4836467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η ≈ 0.9 round-trip efficiency per leg: store 1 MWh, only 0.9 arrives; a full round trip loses ~19%.</a:t>
            </a:r>
          </a:p>
        </p:txBody>
      </p:sp>
      <p:sp>
        <p:nvSpPr>
          <p:cNvPr id="204" name="Text 19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TRANSLATION</a:t>
            </a:r>
          </a:p>
        </p:txBody>
      </p:sp>
      <p:sp>
        <p:nvSpPr>
          <p:cNvPr id="209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Translating constraints (2/2): where MIP begins</a:t>
            </a:r>
          </a:p>
        </p:txBody>
      </p:sp>
      <p:sp>
        <p:nvSpPr>
          <p:cNvPr id="210" name="Shape 2"/>
          <p:cNvSpPr/>
          <p:nvPr/>
        </p:nvSpPr>
        <p:spPr>
          <a:xfrm>
            <a:off x="502919" y="1417319"/>
            <a:ext cx="3886201" cy="3200401"/>
          </a:xfrm>
          <a:prstGeom prst="roundRect">
            <a:avLst>
              <a:gd name="adj" fmla="val 2286"/>
            </a:avLst>
          </a:prstGeom>
          <a:solidFill>
            <a:srgbClr val="FBF1F1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" name="Shape 3"/>
          <p:cNvSpPr/>
          <p:nvPr/>
        </p:nvSpPr>
        <p:spPr>
          <a:xfrm>
            <a:off x="731519" y="1645920"/>
            <a:ext cx="502921" cy="502921"/>
          </a:xfrm>
          <a:prstGeom prst="ellipse">
            <a:avLst/>
          </a:prstGeom>
          <a:solidFill>
            <a:srgbClr val="C94F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2278" y="177667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 4"/>
          <p:cNvSpPr txBox="1"/>
          <p:nvPr/>
        </p:nvSpPr>
        <p:spPr>
          <a:xfrm>
            <a:off x="1371600" y="1799529"/>
            <a:ext cx="237744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14" name="Text 5"/>
          <p:cNvSpPr txBox="1"/>
          <p:nvPr/>
        </p:nvSpPr>
        <p:spPr>
          <a:xfrm>
            <a:off x="731519" y="2757184"/>
            <a:ext cx="3429001" cy="125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1E2A2E"/>
                </a:solidFill>
              </a:defRPr>
            </a:pPr>
            <a:r>
              <a:t>"Never charge and discharge in the same hour."</a:t>
            </a:r>
          </a:p>
          <a:p>
            <a:pPr>
              <a:lnSpc>
                <a:spcPct val="115000"/>
              </a:lnSpc>
              <a:defRPr sz="1200"/>
            </a:pPr>
          </a:p>
          <a:p>
            <a:pPr>
              <a:lnSpc>
                <a:spcPct val="115000"/>
              </a:lnSpc>
              <a:defRPr sz="1200">
                <a:solidFill>
                  <a:srgbClr val="5A6B70"/>
                </a:solidFill>
              </a:defRPr>
            </a:pPr>
            <a:r>
              <a:t>This is logic (either/or), not a quantity — no continuous linear expression can state it.</a:t>
            </a:r>
          </a:p>
          <a:p>
            <a:pPr>
              <a:lnSpc>
                <a:spcPct val="115000"/>
              </a:lnSpc>
              <a:defRPr sz="1200"/>
            </a:pPr>
          </a:p>
          <a:p>
            <a:pPr>
              <a:lnSpc>
                <a:spcPct val="115000"/>
              </a:lnSpc>
              <a:defRPr sz="1200">
                <a:solidFill>
                  <a:srgbClr val="C94F4F"/>
                </a:solidFill>
              </a:defRPr>
            </a:pPr>
            <a:r>
              <a:t>cₜ · dₜ = 0 ?  ✗ nonlinear — rejected by LP and MIP alike.</a:t>
            </a:r>
          </a:p>
        </p:txBody>
      </p:sp>
      <p:sp>
        <p:nvSpPr>
          <p:cNvPr id="215" name="Shape 6"/>
          <p:cNvSpPr/>
          <p:nvPr/>
        </p:nvSpPr>
        <p:spPr>
          <a:xfrm>
            <a:off x="4754879" y="1417319"/>
            <a:ext cx="3886201" cy="3200401"/>
          </a:xfrm>
          <a:prstGeom prst="roundRect">
            <a:avLst>
              <a:gd name="adj" fmla="val 2286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Shape 7"/>
          <p:cNvSpPr/>
          <p:nvPr/>
        </p:nvSpPr>
        <p:spPr>
          <a:xfrm>
            <a:off x="4983479" y="1645920"/>
            <a:ext cx="502921" cy="502921"/>
          </a:xfrm>
          <a:prstGeom prst="ellipse">
            <a:avLst/>
          </a:prstGeom>
          <a:solidFill>
            <a:srgbClr val="F4A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7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14238" y="177667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 8"/>
          <p:cNvSpPr txBox="1"/>
          <p:nvPr/>
        </p:nvSpPr>
        <p:spPr>
          <a:xfrm>
            <a:off x="5623559" y="1799529"/>
            <a:ext cx="292608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The binary-switch trick</a:t>
            </a:r>
          </a:p>
        </p:txBody>
      </p:sp>
      <p:sp>
        <p:nvSpPr>
          <p:cNvPr id="219" name="Text 9"/>
          <p:cNvSpPr txBox="1"/>
          <p:nvPr/>
        </p:nvSpPr>
        <p:spPr>
          <a:xfrm>
            <a:off x="4983479" y="2629672"/>
            <a:ext cx="3429001" cy="150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1E2A2E"/>
                </a:solidFill>
              </a:defRPr>
            </a:pPr>
            <a:r>
              <a:t>Introduce yₜ ∈ {0,1}  (1 = charging mode)</a:t>
            </a:r>
          </a:p>
          <a:p>
            <a:pPr>
              <a:lnSpc>
                <a:spcPct val="115000"/>
              </a:lnSpc>
              <a:defRPr sz="1200"/>
            </a:pPr>
          </a:p>
          <a:p>
            <a:pPr>
              <a:lnSpc>
                <a:spcPct val="115000"/>
              </a:lnSpc>
              <a:defRPr b="1" sz="12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cₜ ≤ 5 · yₜ</a:t>
            </a:r>
          </a:p>
          <a:p>
            <a:pPr>
              <a:lnSpc>
                <a:spcPct val="115000"/>
              </a:lnSpc>
              <a:defRPr b="1" sz="12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dₜ ≤ 5 · (1 − yₜ)</a:t>
            </a:r>
          </a:p>
          <a:p>
            <a:pPr>
              <a:lnSpc>
                <a:spcPct val="115000"/>
              </a:lnSpc>
              <a:defRPr sz="1200"/>
            </a:pPr>
          </a:p>
          <a:p>
            <a:pPr>
              <a:lnSpc>
                <a:spcPct val="115000"/>
              </a:lnSpc>
              <a:defRPr sz="1200">
                <a:solidFill>
                  <a:srgbClr val="5A6B70"/>
                </a:solidFill>
              </a:defRPr>
            </a:pPr>
            <a:r>
              <a:t>yₜ=1 squeezes discharge to 0; yₜ=0 squeezes charge to 0. Two linear rows + one switch = the logic "either/or".</a:t>
            </a:r>
          </a:p>
        </p:txBody>
      </p:sp>
      <p:sp>
        <p:nvSpPr>
          <p:cNvPr id="220" name="Text 10"/>
          <p:cNvSpPr txBox="1"/>
          <p:nvPr/>
        </p:nvSpPr>
        <p:spPr>
          <a:xfrm>
            <a:off x="502920" y="4808658"/>
            <a:ext cx="81381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</a:defRPr>
            </a:lvl1pPr>
          </a:lstStyle>
          <a:p>
            <a:pPr/>
            <a:r>
              <a:t>This is the moment our model turns from an LP into a MIP.</a:t>
            </a:r>
          </a:p>
        </p:txBody>
      </p:sp>
      <p:sp>
        <p:nvSpPr>
          <p:cNvPr id="221" name="Text 11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3 · CODE</a:t>
            </a:r>
          </a:p>
        </p:txBody>
      </p:sp>
      <p:sp>
        <p:nvSpPr>
          <p:cNvPr id="226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docplex (1/2): declare the model &amp; variables</a:t>
            </a:r>
          </a:p>
        </p:txBody>
      </p:sp>
      <p:sp>
        <p:nvSpPr>
          <p:cNvPr id="227" name="Shape 2"/>
          <p:cNvSpPr/>
          <p:nvPr/>
        </p:nvSpPr>
        <p:spPr>
          <a:xfrm>
            <a:off x="502919" y="1417319"/>
            <a:ext cx="8138161" cy="2971801"/>
          </a:xfrm>
          <a:prstGeom prst="roundRect">
            <a:avLst>
              <a:gd name="adj" fmla="val 2462"/>
            </a:avLst>
          </a:prstGeom>
          <a:solidFill>
            <a:srgbClr val="0F262E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Text 3"/>
          <p:cNvSpPr txBox="1"/>
          <p:nvPr/>
        </p:nvSpPr>
        <p:spPr>
          <a:xfrm>
            <a:off x="777240" y="1712595"/>
            <a:ext cx="7680960" cy="242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9FD3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docplex.mp.model import Model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 = Model(name="battery_arbitrage")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 = range(24)                     # 24 hours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6E9AA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continuous vars: lb/ub ARE the power &amp; capacity constraints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   = m.continuous_var_list(T, lb=0, ub=5,  name="charge")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   = m.continuous_var_list(T, lb=0, ub=5,  name="discharge")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soc = m.continuous_var_list(T, lb=0, ub=10, name="soc")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6E9AA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binary vars: the charge/discharge mode switch — MIP starts here</a:t>
            </a:r>
          </a:p>
          <a:p>
            <a:pPr>
              <a:lnSpc>
                <a:spcPct val="115000"/>
              </a:lnSpc>
              <a:defRPr sz="12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   = m.binary_var_list(T, name="is_charging")</a:t>
            </a:r>
          </a:p>
        </p:txBody>
      </p:sp>
      <p:sp>
        <p:nvSpPr>
          <p:cNvPr id="229" name="Text 4"/>
          <p:cNvSpPr txBox="1"/>
          <p:nvPr/>
        </p:nvSpPr>
        <p:spPr>
          <a:xfrm>
            <a:off x="502920" y="4592758"/>
            <a:ext cx="813816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0E6E7E"/>
                </a:solidFill>
              </a:defRPr>
            </a:pPr>
            <a:r>
              <a:t>The correspondence: </a:t>
            </a:r>
            <a:r>
              <a:rPr b="0">
                <a:solidFill>
                  <a:srgbClr val="1E2A2E"/>
                </a:solidFill>
              </a:rPr>
              <a:t>every symbol in the maths = one array of variables in code; the bound constraints are written for free at declaration time.</a:t>
            </a:r>
          </a:p>
        </p:txBody>
      </p:sp>
      <p:sp>
        <p:nvSpPr>
          <p:cNvPr id="230" name="Text 5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3 · CODE</a:t>
            </a:r>
          </a:p>
        </p:txBody>
      </p:sp>
      <p:sp>
        <p:nvSpPr>
          <p:cNvPr id="235" name="Text 1"/>
          <p:cNvSpPr txBox="1"/>
          <p:nvPr/>
        </p:nvSpPr>
        <p:spPr>
          <a:xfrm>
            <a:off x="502920" y="622553"/>
            <a:ext cx="81381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docplex (2/2): constraints, objective, solve</a:t>
            </a:r>
          </a:p>
        </p:txBody>
      </p:sp>
      <p:sp>
        <p:nvSpPr>
          <p:cNvPr id="236" name="Shape 2"/>
          <p:cNvSpPr/>
          <p:nvPr/>
        </p:nvSpPr>
        <p:spPr>
          <a:xfrm>
            <a:off x="502919" y="1417319"/>
            <a:ext cx="8138161" cy="2971801"/>
          </a:xfrm>
          <a:prstGeom prst="roundRect">
            <a:avLst>
              <a:gd name="adj" fmla="val 2462"/>
            </a:avLst>
          </a:prstGeom>
          <a:solidFill>
            <a:srgbClr val="0F262E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Text 3"/>
          <p:cNvSpPr txBox="1"/>
          <p:nvPr/>
        </p:nvSpPr>
        <p:spPr>
          <a:xfrm>
            <a:off x="777240" y="1712595"/>
            <a:ext cx="7680960" cy="242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t in T: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m.add_constraint(c[t] &lt;= 5 * y[t])          # charging switch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m.add_constraint(d[t] &lt;= 5 * (1 - y[t]))    # discharging switch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prev = 5 if t == 0 else soc[t-1]            # initial SoC = 5 MWh</a:t>
            </a:r>
          </a:p>
          <a:p>
            <a:pPr>
              <a:lnSpc>
                <a:spcPct val="115000"/>
              </a:lnSpc>
              <a:defRPr sz="12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m.add_constraint(soc[t] == prev + 0.9*c[t] - d[t]/0.9)  # balance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m.add_constraint(soc[23] == 5)                  # start = end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9FD3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m.maximize(m.sum(price[t] * (d[t] - c[t]) for t in T))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sol = m.solve()</a:t>
            </a:r>
          </a:p>
          <a:p>
            <a:pPr>
              <a:lnSpc>
                <a:spcPct val="115000"/>
              </a:lnSpc>
              <a:defRPr sz="1200">
                <a:solidFill>
                  <a:srgbClr val="7EE0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print(sol.objective_value)   # → 753.0 (£)</a:t>
            </a:r>
          </a:p>
        </p:txBody>
      </p:sp>
      <p:sp>
        <p:nvSpPr>
          <p:cNvPr id="238" name="Text 4"/>
          <p:cNvSpPr txBox="1"/>
          <p:nvPr/>
        </p:nvSpPr>
        <p:spPr>
          <a:xfrm>
            <a:off x="502920" y="4592758"/>
            <a:ext cx="813816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0E6E7E"/>
                </a:solidFill>
              </a:defRPr>
            </a:pPr>
            <a:r>
              <a:t>Translation complete: </a:t>
            </a:r>
            <a:r>
              <a:rPr b="0">
                <a:solidFill>
                  <a:srgbClr val="1E2A2E"/>
                </a:solidFill>
              </a:rPr>
              <a:t>each equation on the previous slides ↔ one add_constraint here, one to one; solving takes a single m.solve().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